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大家好，我是温添宁，参赛假名 scala，队伍叫欧比克莱歌剧院。我们的项目是 PlayBand AI。它解决的是一个很简单的问题：很多人有音乐感觉，但不会乐理，也不会用专业 DAW。我们的核心承诺就是这一句：先玩，再编曲。用户先敲出一点灵感，AI 音乐导演再把它扩展成一支乐队。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今天我只讲一件事：普通人的一小段灵感，怎么被 Agent 编成歌。接下来会分四步走。先讲背景和灵感来源，再讲产品怎么让人先玩起来，然后重点展示我们的音乐导演 Agent，最后讲未来规划和可以继续扩展的方向。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这个项目的灵感来自三个地方。Cursor 让我意识到，Agent 最好的位置不是替人完成一切，而是理解人的意图，再补上结构。GarageBand 让我看到音乐工具可以很有玩具感，但它对新手还是有门槛。现在很多 AI 生成歌工具很轻松，可是人的手感被跳过了。所以我想做的是音乐版 Cursor：人先表达直觉，Agent 再把它变成可继续修改的作品。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今天普通人做音乐，通常卡在两个入口之间。专业 DAW 很强，但一打开就要求你理解轨道、插件、钢琴卷帘，这对新手太重。另一边，一句话生成歌曲很轻松，但结果不像是自己做出来的。中间缺的是一个入口：让用户先玩一下，再让 AI 把这点感觉放大。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PlayBand AI 的产品洞察是：灵感应该来自人，编曲可以交给 Agent。人负责品味、节奏感和身体上的直觉，Agent 负责结构、配器和变化。界面负责把结果变成看得见、听得到、还能继续改的音乐结构。这样 AI 不是黑箱，而是创作副驾驶。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具体怎么做？用户用大 pad 敲几下，系统把这些敲击捕捉成轻量 MIDI-like 事件。然后音乐导演把这段种子补成 8 小节 loop，包含鼓、贝斯、吉他和键盘。生成结果不会直接覆盖作品，而是先变成候选，用户试听满意以后再应用。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这页是我们希望评委记住的一句话：我敲了几下，它变成一支乐队。现场演示时我会打开链接，先敲一个短鼓点，把它捕捉进 MIDI-like 数据，再点补全编曲。你会看到候选编曲出现，并且可以试听、应用，然后继续用自然语言说更快一点，或者柔和一点。这就是完整闭环。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这里是 PlayBand AI 最核心的 Agent。它不是那种输入一句话、吐出一段音频的生成器，而是一个音乐导演。它先听见用户刚刚敲出来的种子，再把它补成鼓、贝斯、吉他、键盘四轨乐队，同时解释自己改了什么。用户还可以继续说：更快一点、更柔一点、更像开场。人的 taste 一直在场，Agent 只是把这点直觉扩成可以继续玩的编曲。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未来我们会在同一个候选预览循环里接入更强的模型编曲能力，让音乐导演更懂风格、更懂用户的 taste。之后可以增加 lo-fi、rock、pop，以及古风和民族乐器包。等核心 loop 稳定以后，再支持 MIDI 和 stems 导出，甚至让社区里的小 riff 变成可以 remix 的创作起点。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最后回到这句话：先玩，再编曲。PlayBand AI 想做的不是让普通人绕过创作，而是把他们的音乐直觉留在创作循环里。谢谢大家，我是温添宁，队伍是欧比克莱歌剧院，欢迎现场体验 PlayBand AI。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ed6ad7d612d6d89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8ebd0c11dc687854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11125200" cy="5829300"/>
            </a:xfrm>
            <a:prstGeom prst="roundRect">
              <a:avLst>
                <a:gd name="adj" fmla="val 1307"/>
              </a:avLst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781050"/>
              <a:ext cx="1066800" cy="190500"/>
            </a:xfrm>
            <a:prstGeom prst="roundRect">
              <a:avLst>
                <a:gd name="adj" fmla="val 40000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2038350" y="781050"/>
              <a:ext cx="1066800" cy="190500"/>
            </a:xfrm>
            <a:prstGeom prst="roundRect">
              <a:avLst>
                <a:gd name="adj" fmla="val 40000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3276600" y="781050"/>
              <a:ext cx="1066800" cy="190500"/>
            </a:xfrm>
            <a:prstGeom prst="roundRect">
              <a:avLst>
                <a:gd name="adj" fmla="val 40000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14850" y="781050"/>
              <a:ext cx="1066800" cy="190500"/>
            </a:xfrm>
            <a:prstGeom prst="roundRect">
              <a:avLst>
                <a:gd name="adj" fmla="val 40000"/>
              </a:avLst>
            </a:prstGeom>
            <a:solidFill>
              <a:srgbClr val="5C7CFA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001250" y="800100"/>
              <a:ext cx="1181100" cy="1181100"/>
            </a:xfrm>
            <a:prstGeom prst="ellipse">
              <a:avLst/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0782300" y="1638300"/>
              <a:ext cx="647700" cy="647700"/>
            </a:xfrm>
            <a:prstGeom prst="ellipse">
              <a:avLst/>
            </a:prstGeom>
            <a:solidFill>
              <a:srgbClr val="20C997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830580" y="1592580"/>
            <a:ext cx="5065452" cy="1988820"/>
            <a:chOff x="830580" y="1592580"/>
            <a:chExt cx="5065452" cy="1988820"/>
          </a:xfrm>
        </p:grpSpPr>
        <p:sp>
          <p:nvSpPr>
            <p:cNvPr id="12" name="TextBox 12"/>
            <p:cNvSpPr txBox="1"/>
            <p:nvPr/>
          </p:nvSpPr>
          <p:spPr>
            <a:xfrm>
              <a:off x="830580" y="1592580"/>
              <a:ext cx="5065452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PlayBand AI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3925" y="2728912"/>
              <a:ext cx="22624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5A3D"/>
                  </a:solidFill>
                  <a:latin typeface="Arial"/>
                  <a:ea typeface="Microsoft YaHei"/>
                  <a:cs typeface="Arial"/>
                </a:rPr>
                <a:t>先玩，再编曲。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9640" y="3215640"/>
              <a:ext cx="469570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几下敲击，让 AI 音乐导演补成一支乐队。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953250" y="2381250"/>
            <a:ext cx="3905250" cy="2266950"/>
            <a:chOff x="6953250" y="2381250"/>
            <a:chExt cx="3905250" cy="2266950"/>
          </a:xfrm>
        </p:grpSpPr>
        <p:sp>
          <p:nvSpPr>
            <p:cNvPr id="16" name="Rectangle 16"/>
            <p:cNvSpPr/>
            <p:nvPr/>
          </p:nvSpPr>
          <p:spPr>
            <a:xfrm>
              <a:off x="6953250" y="2381250"/>
              <a:ext cx="3905250" cy="2266950"/>
            </a:xfrm>
            <a:prstGeom prst="roundRect">
              <a:avLst>
                <a:gd name="adj" fmla="val 3361"/>
              </a:avLst>
            </a:prstGeom>
            <a:solidFill>
              <a:srgbClr val="FFFFFF"/>
            </a:solidFill>
            <a:ln w="38100">
              <a:solidFill>
                <a:srgbClr val="24212B"/>
              </a:solidFill>
            </a:ln>
          </p:spPr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24700" y="2552700"/>
              <a:ext cx="3562350" cy="188595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7353300" y="4191000"/>
              <a:ext cx="1104900" cy="266700"/>
            </a:xfrm>
            <a:prstGeom prst="roundRect">
              <a:avLst>
                <a:gd name="adj" fmla="val 28571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591550" y="4191000"/>
              <a:ext cx="1104900" cy="266700"/>
            </a:xfrm>
            <a:prstGeom prst="roundRect">
              <a:avLst>
                <a:gd name="adj" fmla="val 28571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829800" y="4191000"/>
              <a:ext cx="666750" cy="266700"/>
            </a:xfrm>
            <a:prstGeom prst="roundRect">
              <a:avLst>
                <a:gd name="adj" fmla="val 28571"/>
              </a:avLst>
            </a:prstGeom>
            <a:solidFill>
              <a:srgbClr val="FFD43B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935355" y="5607368"/>
            <a:ext cx="10315575" cy="571976"/>
            <a:chOff x="935355" y="5607368"/>
            <a:chExt cx="10315575" cy="571976"/>
          </a:xfrm>
        </p:grpSpPr>
        <p:sp>
          <p:nvSpPr>
            <p:cNvPr id="22" name="TextBox 22"/>
            <p:cNvSpPr txBox="1"/>
            <p:nvPr/>
          </p:nvSpPr>
          <p:spPr>
            <a:xfrm>
              <a:off x="935355" y="5607368"/>
              <a:ext cx="28318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欧比克莱歌剧院 · 温添宁 · scala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6308" y="5920264"/>
              <a:ext cx="20229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6D6577"/>
                  </a:solidFill>
                  <a:latin typeface="Consolas"/>
                  <a:ea typeface="Microsoft YaHei"/>
                  <a:cs typeface="Consolas"/>
                </a:rPr>
                <a:t>wenwen.zone/playband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089453" y="596074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666750" y="685800"/>
              <a:ext cx="10858500" cy="5486400"/>
            </a:xfrm>
            <a:prstGeom prst="roundRect">
              <a:avLst>
                <a:gd name="adj" fmla="val 1389"/>
              </a:avLst>
            </a:prstGeom>
            <a:solidFill>
              <a:srgbClr val="FFFFFF"/>
            </a:solidFill>
            <a:ln w="38100">
              <a:solidFill>
                <a:srgbClr val="24212B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57250" y="876300"/>
              <a:ext cx="742950" cy="171450"/>
            </a:xfrm>
            <a:prstGeom prst="roundRect">
              <a:avLst>
                <a:gd name="adj" fmla="val 44444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752600" y="876300"/>
              <a:ext cx="742950" cy="171450"/>
            </a:xfrm>
            <a:prstGeom prst="roundRect">
              <a:avLst>
                <a:gd name="adj" fmla="val 44444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2647950" y="876300"/>
              <a:ext cx="742950" cy="171450"/>
            </a:xfrm>
            <a:prstGeom prst="roundRect">
              <a:avLst>
                <a:gd name="adj" fmla="val 44444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3543300" y="876300"/>
              <a:ext cx="742950" cy="171450"/>
            </a:xfrm>
            <a:prstGeom prst="roundRect">
              <a:avLst>
                <a:gd name="adj" fmla="val 44444"/>
              </a:avLst>
            </a:prstGeom>
            <a:solidFill>
              <a:srgbClr val="5C7CFA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95350" y="1549718"/>
            <a:ext cx="5246951" cy="1422082"/>
            <a:chOff x="895350" y="1549718"/>
            <a:chExt cx="5246951" cy="1422082"/>
          </a:xfrm>
        </p:grpSpPr>
        <p:sp>
          <p:nvSpPr>
            <p:cNvPr id="9" name="TextBox 9"/>
            <p:cNvSpPr txBox="1"/>
            <p:nvPr/>
          </p:nvSpPr>
          <p:spPr>
            <a:xfrm>
              <a:off x="935355" y="15497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5A3D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5350" y="1857375"/>
              <a:ext cx="4524851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今天只讲一件事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7740" y="2606040"/>
              <a:ext cx="517456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普通人的一小段灵感，怎么被 Agent 编成歌。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95400" y="3562350"/>
            <a:ext cx="9334500" cy="876300"/>
            <a:chOff x="1295400" y="3562350"/>
            <a:chExt cx="9334500" cy="876300"/>
          </a:xfrm>
        </p:grpSpPr>
        <p:sp>
          <p:nvSpPr>
            <p:cNvPr id="13" name="Rectangle 13"/>
            <p:cNvSpPr/>
            <p:nvPr/>
          </p:nvSpPr>
          <p:spPr>
            <a:xfrm>
              <a:off x="1295400" y="3562350"/>
              <a:ext cx="2019300" cy="876300"/>
            </a:xfrm>
            <a:prstGeom prst="roundRect">
              <a:avLst>
                <a:gd name="adj" fmla="val 8696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25905" y="3797618"/>
              <a:ext cx="6769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01 背景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26858" y="4091464"/>
              <a:ext cx="12820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痛点与灵感来源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733800" y="3562350"/>
              <a:ext cx="2019300" cy="876300"/>
            </a:xfrm>
            <a:prstGeom prst="roundRect">
              <a:avLst>
                <a:gd name="adj" fmla="val 8696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964305" y="3797618"/>
              <a:ext cx="6769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02 产品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65258" y="409146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先玩，再编曲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172200" y="3562350"/>
              <a:ext cx="2019300" cy="876300"/>
            </a:xfrm>
            <a:prstGeom prst="roundRect">
              <a:avLst>
                <a:gd name="adj" fmla="val 8696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2705" y="379761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03 Agent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03658" y="409146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音乐导演闭环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610600" y="3562350"/>
              <a:ext cx="2019300" cy="876300"/>
            </a:xfrm>
            <a:prstGeom prst="roundRect">
              <a:avLst>
                <a:gd name="adj" fmla="val 8696"/>
              </a:avLst>
            </a:prstGeom>
            <a:solidFill>
              <a:srgbClr val="5C7CF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41105" y="3797618"/>
              <a:ext cx="6769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04 未来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42058" y="409146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风格包与导出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38212" y="5688806"/>
            <a:ext cx="10312718" cy="228600"/>
            <a:chOff x="938212" y="5688806"/>
            <a:chExt cx="10312718" cy="228600"/>
          </a:xfrm>
        </p:grpSpPr>
        <p:sp>
          <p:nvSpPr>
            <p:cNvPr id="26" name="TextBox 26"/>
            <p:cNvSpPr txBox="1"/>
            <p:nvPr/>
          </p:nvSpPr>
          <p:spPr>
            <a:xfrm>
              <a:off x="938212" y="5688806"/>
              <a:ext cx="4124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排版规则：纯色块、少字、大留白，保证框内文字不溢出。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89453" y="571309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685800" y="723900"/>
              <a:ext cx="10820400" cy="5410200"/>
            </a:xfrm>
            <a:prstGeom prst="roundRect">
              <a:avLst>
                <a:gd name="adj" fmla="val 1408"/>
              </a:avLst>
            </a:prstGeom>
            <a:solidFill>
              <a:srgbClr val="FFFFFF"/>
            </a:solidFill>
            <a:ln w="28575">
              <a:solidFill>
                <a:srgbClr val="E7DCC7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696450" y="742950"/>
              <a:ext cx="1028700" cy="1028700"/>
            </a:xfrm>
            <a:prstGeom prst="ellipse">
              <a:avLst/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19150" y="876300"/>
              <a:ext cx="800100" cy="171450"/>
            </a:xfrm>
            <a:prstGeom prst="roundRect">
              <a:avLst>
                <a:gd name="adj" fmla="val 44444"/>
              </a:avLst>
            </a:prstGeom>
            <a:solidFill>
              <a:srgbClr val="20C997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37260" y="1397318"/>
            <a:ext cx="6928333" cy="1491138"/>
            <a:chOff x="937260" y="1397318"/>
            <a:chExt cx="6928333" cy="1491138"/>
          </a:xfrm>
        </p:grpSpPr>
        <p:sp>
          <p:nvSpPr>
            <p:cNvPr id="7" name="TextBox 7"/>
            <p:cNvSpPr txBox="1"/>
            <p:nvPr/>
          </p:nvSpPr>
          <p:spPr>
            <a:xfrm>
              <a:off x="973455" y="13973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C997"/>
                  </a:solidFill>
                  <a:latin typeface="Arial"/>
                  <a:ea typeface="Microsoft YaHei"/>
                  <a:cs typeface="Arial"/>
                </a:rPr>
                <a:t>灵感来源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37260" y="1813560"/>
              <a:ext cx="6928333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我想要的是音乐版 Cursor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6792" y="2537936"/>
              <a:ext cx="608207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不是替我创作，而是把我的直觉变成可继续修改的作品。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43000" y="3524250"/>
            <a:ext cx="9906000" cy="1333500"/>
            <a:chOff x="1143000" y="3524250"/>
            <a:chExt cx="9906000" cy="1333500"/>
          </a:xfrm>
        </p:grpSpPr>
        <p:sp>
          <p:nvSpPr>
            <p:cNvPr id="11" name="Rectangle 11"/>
            <p:cNvSpPr/>
            <p:nvPr/>
          </p:nvSpPr>
          <p:spPr>
            <a:xfrm>
              <a:off x="1143000" y="3524250"/>
              <a:ext cx="2857500" cy="1333500"/>
            </a:xfrm>
            <a:prstGeom prst="roundRect">
              <a:avLst>
                <a:gd name="adj" fmla="val 5714"/>
              </a:avLst>
            </a:prstGeom>
            <a:solidFill>
              <a:srgbClr val="FF5A3D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401382" y="3782632"/>
              <a:ext cx="339653" cy="339344"/>
              <a:chOff x="1401382" y="3782632"/>
              <a:chExt cx="339653" cy="33934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452436" y="3833732"/>
                <a:ext cx="275849" cy="276931"/>
              </a:xfrm>
              <a:custGeom>
                <a:avLst/>
                <a:gdLst/>
                <a:ahLst/>
                <a:cxnLst/>
                <a:rect l="l" t="t" r="r" b="b"/>
                <a:pathLst>
                  <a:path w="275849" h="276931">
                    <a:moveTo>
                      <a:pt x="272100" y="252269"/>
                    </a:moveTo>
                    <a:lnTo>
                      <a:pt x="252316" y="272053"/>
                    </a:lnTo>
                    <a:cubicBezTo>
                      <a:pt x="247435" y="276931"/>
                      <a:pt x="239524" y="276931"/>
                      <a:pt x="234642" y="272053"/>
                    </a:cubicBezTo>
                    <a:lnTo>
                      <a:pt x="156992" y="194450"/>
                    </a:lnTo>
                    <a:cubicBezTo>
                      <a:pt x="154068" y="191519"/>
                      <a:pt x="149884" y="190226"/>
                      <a:pt x="145817" y="190995"/>
                    </a:cubicBezTo>
                    <a:cubicBezTo>
                      <a:pt x="141750" y="191765"/>
                      <a:pt x="138327" y="194498"/>
                      <a:pt x="136677" y="198294"/>
                    </a:cubicBezTo>
                    <a:lnTo>
                      <a:pt x="106267" y="268256"/>
                    </a:lnTo>
                    <a:cubicBezTo>
                      <a:pt x="104149" y="272918"/>
                      <a:pt x="99402" y="275817"/>
                      <a:pt x="94287" y="275573"/>
                    </a:cubicBezTo>
                    <a:cubicBezTo>
                      <a:pt x="89173" y="275328"/>
                      <a:pt x="84724" y="271989"/>
                      <a:pt x="83061" y="267146"/>
                    </a:cubicBezTo>
                    <a:lnTo>
                      <a:pt x="1363" y="16990"/>
                    </a:lnTo>
                    <a:cubicBezTo>
                      <a:pt x="0" y="12563"/>
                      <a:pt x="1196" y="7746"/>
                      <a:pt x="4471" y="4471"/>
                    </a:cubicBezTo>
                    <a:cubicBezTo>
                      <a:pt x="7746" y="1196"/>
                      <a:pt x="12563" y="0"/>
                      <a:pt x="16990" y="1363"/>
                    </a:cubicBezTo>
                    <a:lnTo>
                      <a:pt x="267177" y="82998"/>
                    </a:lnTo>
                    <a:cubicBezTo>
                      <a:pt x="272020" y="84661"/>
                      <a:pt x="275359" y="89110"/>
                      <a:pt x="275604" y="94225"/>
                    </a:cubicBezTo>
                    <a:cubicBezTo>
                      <a:pt x="275849" y="99340"/>
                      <a:pt x="272949" y="104086"/>
                      <a:pt x="268287" y="106204"/>
                    </a:cubicBezTo>
                    <a:lnTo>
                      <a:pt x="198325" y="136630"/>
                    </a:lnTo>
                    <a:cubicBezTo>
                      <a:pt x="194532" y="138284"/>
                      <a:pt x="191802" y="141708"/>
                      <a:pt x="191036" y="145774"/>
                    </a:cubicBezTo>
                    <a:cubicBezTo>
                      <a:pt x="190269" y="149841"/>
                      <a:pt x="191565" y="154024"/>
                      <a:pt x="194497" y="156945"/>
                    </a:cubicBezTo>
                    <a:lnTo>
                      <a:pt x="272116" y="234564"/>
                    </a:lnTo>
                    <a:cubicBezTo>
                      <a:pt x="274466" y="236912"/>
                      <a:pt x="275785" y="240098"/>
                      <a:pt x="275782" y="243420"/>
                    </a:cubicBezTo>
                    <a:cubicBezTo>
                      <a:pt x="275779" y="246742"/>
                      <a:pt x="274454" y="249926"/>
                      <a:pt x="272100" y="252269"/>
                    </a:cubicBezTo>
                    <a:close/>
                  </a:path>
                </a:pathLst>
              </a:custGeom>
              <a:solidFill>
                <a:srgbClr val="FFF7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401382" y="3782632"/>
                <a:ext cx="339653" cy="339344"/>
              </a:xfrm>
              <a:custGeom>
                <a:avLst/>
                <a:gdLst/>
                <a:ahLst/>
                <a:cxnLst/>
                <a:rect l="l" t="t" r="r" b="b"/>
                <a:pathLst>
                  <a:path w="339653" h="339344">
                    <a:moveTo>
                      <a:pt x="254363" y="199185"/>
                    </a:moveTo>
                    <a:lnTo>
                      <a:pt x="324325" y="168774"/>
                    </a:lnTo>
                    <a:cubicBezTo>
                      <a:pt x="333758" y="164592"/>
                      <a:pt x="339653" y="155043"/>
                      <a:pt x="339165" y="144736"/>
                    </a:cubicBezTo>
                    <a:cubicBezTo>
                      <a:pt x="338677" y="134429"/>
                      <a:pt x="331908" y="125480"/>
                      <a:pt x="322122" y="122206"/>
                    </a:cubicBezTo>
                    <a:lnTo>
                      <a:pt x="71966" y="40524"/>
                    </a:lnTo>
                    <a:cubicBezTo>
                      <a:pt x="63046" y="37665"/>
                      <a:pt x="53277" y="40031"/>
                      <a:pt x="46654" y="46654"/>
                    </a:cubicBezTo>
                    <a:cubicBezTo>
                      <a:pt x="40031" y="53277"/>
                      <a:pt x="37665" y="63046"/>
                      <a:pt x="40524" y="71966"/>
                    </a:cubicBezTo>
                    <a:lnTo>
                      <a:pt x="122206" y="322122"/>
                    </a:lnTo>
                    <a:cubicBezTo>
                      <a:pt x="125363" y="332008"/>
                      <a:pt x="134356" y="338872"/>
                      <a:pt x="144725" y="339311"/>
                    </a:cubicBezTo>
                    <a:lnTo>
                      <a:pt x="145959" y="339311"/>
                    </a:lnTo>
                    <a:cubicBezTo>
                      <a:pt x="155882" y="339344"/>
                      <a:pt x="164863" y="333444"/>
                      <a:pt x="168774" y="324325"/>
                    </a:cubicBezTo>
                    <a:lnTo>
                      <a:pt x="168774" y="324325"/>
                    </a:lnTo>
                    <a:lnTo>
                      <a:pt x="199185" y="254363"/>
                    </a:lnTo>
                    <a:lnTo>
                      <a:pt x="276804" y="331982"/>
                    </a:lnTo>
                    <a:cubicBezTo>
                      <a:pt x="281493" y="336673"/>
                      <a:pt x="287853" y="339308"/>
                      <a:pt x="294486" y="339308"/>
                    </a:cubicBezTo>
                    <a:cubicBezTo>
                      <a:pt x="301118" y="339308"/>
                      <a:pt x="307478" y="336673"/>
                      <a:pt x="312167" y="331982"/>
                    </a:cubicBezTo>
                    <a:lnTo>
                      <a:pt x="331982" y="312167"/>
                    </a:lnTo>
                    <a:cubicBezTo>
                      <a:pt x="336673" y="307478"/>
                      <a:pt x="339308" y="301118"/>
                      <a:pt x="339308" y="294486"/>
                    </a:cubicBezTo>
                    <a:cubicBezTo>
                      <a:pt x="339308" y="287853"/>
                      <a:pt x="336673" y="281493"/>
                      <a:pt x="331982" y="276804"/>
                    </a:cubicBezTo>
                    <a:close/>
                    <a:moveTo>
                      <a:pt x="145787" y="314449"/>
                    </a:moveTo>
                    <a:lnTo>
                      <a:pt x="145881" y="314371"/>
                    </a:lnTo>
                    <a:close/>
                    <a:moveTo>
                      <a:pt x="294478" y="314308"/>
                    </a:moveTo>
                    <a:lnTo>
                      <a:pt x="216874" y="236689"/>
                    </a:lnTo>
                    <a:cubicBezTo>
                      <a:pt x="211023" y="230830"/>
                      <a:pt x="202651" y="228248"/>
                      <a:pt x="194516" y="229794"/>
                    </a:cubicBezTo>
                    <a:cubicBezTo>
                      <a:pt x="186381" y="231339"/>
                      <a:pt x="179539" y="236812"/>
                      <a:pt x="176244" y="244409"/>
                    </a:cubicBezTo>
                    <a:lnTo>
                      <a:pt x="145897" y="314183"/>
                    </a:lnTo>
                    <a:lnTo>
                      <a:pt x="64277" y="64277"/>
                    </a:lnTo>
                    <a:lnTo>
                      <a:pt x="314105" y="145865"/>
                    </a:lnTo>
                    <a:lnTo>
                      <a:pt x="244346" y="176197"/>
                    </a:lnTo>
                    <a:cubicBezTo>
                      <a:pt x="236750" y="179492"/>
                      <a:pt x="231277" y="186334"/>
                      <a:pt x="229731" y="194469"/>
                    </a:cubicBezTo>
                    <a:cubicBezTo>
                      <a:pt x="228186" y="202604"/>
                      <a:pt x="230768" y="210976"/>
                      <a:pt x="236627" y="216827"/>
                    </a:cubicBezTo>
                    <a:lnTo>
                      <a:pt x="314308" y="294478"/>
                    </a:lnTo>
                    <a:close/>
                    <a:moveTo>
                      <a:pt x="126785" y="26772"/>
                    </a:moveTo>
                    <a:lnTo>
                      <a:pt x="126785" y="14271"/>
                    </a:lnTo>
                    <a:cubicBezTo>
                      <a:pt x="126785" y="7366"/>
                      <a:pt x="132382" y="1769"/>
                      <a:pt x="139286" y="1769"/>
                    </a:cubicBezTo>
                    <a:cubicBezTo>
                      <a:pt x="146191" y="1769"/>
                      <a:pt x="151788" y="7366"/>
                      <a:pt x="151788" y="14271"/>
                    </a:cubicBezTo>
                    <a:lnTo>
                      <a:pt x="151788" y="26772"/>
                    </a:lnTo>
                    <a:cubicBezTo>
                      <a:pt x="151788" y="33677"/>
                      <a:pt x="146191" y="39274"/>
                      <a:pt x="139286" y="39274"/>
                    </a:cubicBezTo>
                    <a:cubicBezTo>
                      <a:pt x="132382" y="39274"/>
                      <a:pt x="126785" y="33677"/>
                      <a:pt x="126785" y="26772"/>
                    </a:cubicBezTo>
                    <a:close/>
                    <a:moveTo>
                      <a:pt x="1769" y="139286"/>
                    </a:moveTo>
                    <a:cubicBezTo>
                      <a:pt x="1769" y="132382"/>
                      <a:pt x="7366" y="126785"/>
                      <a:pt x="14271" y="126785"/>
                    </a:cubicBezTo>
                    <a:lnTo>
                      <a:pt x="26772" y="126785"/>
                    </a:lnTo>
                    <a:cubicBezTo>
                      <a:pt x="33677" y="126785"/>
                      <a:pt x="39274" y="132382"/>
                      <a:pt x="39274" y="139286"/>
                    </a:cubicBezTo>
                    <a:cubicBezTo>
                      <a:pt x="39274" y="146191"/>
                      <a:pt x="33677" y="151788"/>
                      <a:pt x="26772" y="151788"/>
                    </a:cubicBezTo>
                    <a:lnTo>
                      <a:pt x="14271" y="151788"/>
                    </a:lnTo>
                    <a:cubicBezTo>
                      <a:pt x="7366" y="151788"/>
                      <a:pt x="1769" y="146191"/>
                      <a:pt x="1769" y="139286"/>
                    </a:cubicBezTo>
                    <a:close/>
                    <a:moveTo>
                      <a:pt x="178119" y="33679"/>
                    </a:moveTo>
                    <a:lnTo>
                      <a:pt x="190621" y="8676"/>
                    </a:lnTo>
                    <a:cubicBezTo>
                      <a:pt x="193711" y="2501"/>
                      <a:pt x="201221" y="0"/>
                      <a:pt x="207397" y="3090"/>
                    </a:cubicBezTo>
                    <a:cubicBezTo>
                      <a:pt x="213572" y="6179"/>
                      <a:pt x="216073" y="13690"/>
                      <a:pt x="212983" y="19865"/>
                    </a:cubicBezTo>
                    <a:lnTo>
                      <a:pt x="200482" y="44868"/>
                    </a:lnTo>
                    <a:cubicBezTo>
                      <a:pt x="198483" y="48863"/>
                      <a:pt x="194505" y="51488"/>
                      <a:pt x="190046" y="51754"/>
                    </a:cubicBezTo>
                    <a:cubicBezTo>
                      <a:pt x="185587" y="52021"/>
                      <a:pt x="181325" y="49888"/>
                      <a:pt x="178865" y="46160"/>
                    </a:cubicBezTo>
                    <a:cubicBezTo>
                      <a:pt x="176405" y="42432"/>
                      <a:pt x="176121" y="37674"/>
                      <a:pt x="178119" y="33679"/>
                    </a:cubicBezTo>
                    <a:close/>
                    <a:moveTo>
                      <a:pt x="50463" y="183698"/>
                    </a:moveTo>
                    <a:cubicBezTo>
                      <a:pt x="51949" y="186665"/>
                      <a:pt x="52194" y="190102"/>
                      <a:pt x="51145" y="193250"/>
                    </a:cubicBezTo>
                    <a:cubicBezTo>
                      <a:pt x="50095" y="196398"/>
                      <a:pt x="47837" y="198999"/>
                      <a:pt x="44868" y="200482"/>
                    </a:cubicBezTo>
                    <a:lnTo>
                      <a:pt x="19865" y="212983"/>
                    </a:lnTo>
                    <a:cubicBezTo>
                      <a:pt x="13690" y="216073"/>
                      <a:pt x="6179" y="213572"/>
                      <a:pt x="3090" y="207397"/>
                    </a:cubicBezTo>
                    <a:cubicBezTo>
                      <a:pt x="0" y="201221"/>
                      <a:pt x="2501" y="193711"/>
                      <a:pt x="8676" y="190621"/>
                    </a:cubicBezTo>
                    <a:lnTo>
                      <a:pt x="33679" y="178119"/>
                    </a:lnTo>
                    <a:cubicBezTo>
                      <a:pt x="36645" y="176632"/>
                      <a:pt x="40079" y="176385"/>
                      <a:pt x="43227" y="177431"/>
                    </a:cubicBezTo>
                    <a:cubicBezTo>
                      <a:pt x="46375" y="178477"/>
                      <a:pt x="48978" y="180732"/>
                      <a:pt x="50463" y="183698"/>
                    </a:cubicBezTo>
                    <a:close/>
                  </a:path>
                </a:pathLst>
              </a:custGeom>
              <a:solidFill>
                <a:srgbClr val="FFF7E8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369695" y="4260532"/>
              <a:ext cx="8043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Cursor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73505" y="4578668"/>
              <a:ext cx="23120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人写意图，Agent 补结构。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667250" y="3524250"/>
              <a:ext cx="2857500" cy="1333500"/>
            </a:xfrm>
            <a:prstGeom prst="roundRect">
              <a:avLst>
                <a:gd name="adj" fmla="val 5714"/>
              </a:avLst>
            </a:prstGeom>
            <a:solidFill>
              <a:srgbClr val="FFD43B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4934381" y="3808845"/>
              <a:ext cx="318070" cy="342710"/>
              <a:chOff x="4934381" y="3808845"/>
              <a:chExt cx="318070" cy="34271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4952405" y="3996928"/>
                <a:ext cx="287536" cy="137517"/>
              </a:xfrm>
              <a:custGeom>
                <a:avLst/>
                <a:gdLst/>
                <a:ahLst/>
                <a:cxnLst/>
                <a:rect l="l" t="t" r="r" b="b"/>
                <a:pathLst>
                  <a:path w="287536" h="137517">
                    <a:moveTo>
                      <a:pt x="287536" y="43755"/>
                    </a:moveTo>
                    <a:cubicBezTo>
                      <a:pt x="287536" y="67921"/>
                      <a:pt x="267946" y="87511"/>
                      <a:pt x="243780" y="87511"/>
                    </a:cubicBezTo>
                    <a:cubicBezTo>
                      <a:pt x="219615" y="87511"/>
                      <a:pt x="200025" y="67921"/>
                      <a:pt x="200025" y="43755"/>
                    </a:cubicBezTo>
                    <a:cubicBezTo>
                      <a:pt x="200025" y="19590"/>
                      <a:pt x="219615" y="0"/>
                      <a:pt x="243780" y="0"/>
                    </a:cubicBezTo>
                    <a:cubicBezTo>
                      <a:pt x="267946" y="0"/>
                      <a:pt x="287536" y="19590"/>
                      <a:pt x="287536" y="43755"/>
                    </a:cubicBezTo>
                    <a:close/>
                    <a:moveTo>
                      <a:pt x="43755" y="50006"/>
                    </a:moveTo>
                    <a:cubicBezTo>
                      <a:pt x="19590" y="50006"/>
                      <a:pt x="0" y="69596"/>
                      <a:pt x="0" y="93762"/>
                    </a:cubicBezTo>
                    <a:cubicBezTo>
                      <a:pt x="0" y="117927"/>
                      <a:pt x="19590" y="137517"/>
                      <a:pt x="43755" y="137517"/>
                    </a:cubicBezTo>
                    <a:cubicBezTo>
                      <a:pt x="67921" y="137517"/>
                      <a:pt x="87511" y="117927"/>
                      <a:pt x="87511" y="93762"/>
                    </a:cubicBezTo>
                    <a:cubicBezTo>
                      <a:pt x="87511" y="69596"/>
                      <a:pt x="67921" y="50006"/>
                      <a:pt x="43755" y="50006"/>
                    </a:cubicBezTo>
                    <a:close/>
                  </a:path>
                </a:pathLst>
              </a:custGeom>
              <a:solidFill>
                <a:srgbClr val="24212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934381" y="3808845"/>
                <a:ext cx="318070" cy="342710"/>
              </a:xfrm>
              <a:custGeom>
                <a:avLst/>
                <a:gdLst/>
                <a:ahLst/>
                <a:cxnLst/>
                <a:rect l="l" t="t" r="r" b="b"/>
                <a:pathLst>
                  <a:path w="318070" h="342710">
                    <a:moveTo>
                      <a:pt x="313248" y="3200"/>
                    </a:moveTo>
                    <a:cubicBezTo>
                      <a:pt x="310213" y="836"/>
                      <a:pt x="306259" y="0"/>
                      <a:pt x="302528" y="934"/>
                    </a:cubicBezTo>
                    <a:lnTo>
                      <a:pt x="102503" y="50941"/>
                    </a:lnTo>
                    <a:cubicBezTo>
                      <a:pt x="96938" y="52331"/>
                      <a:pt x="93034" y="57331"/>
                      <a:pt x="93033" y="63067"/>
                    </a:cubicBezTo>
                    <a:lnTo>
                      <a:pt x="93033" y="235089"/>
                    </a:lnTo>
                    <a:cubicBezTo>
                      <a:pt x="71575" y="220751"/>
                      <a:pt x="43114" y="222853"/>
                      <a:pt x="23994" y="240185"/>
                    </a:cubicBezTo>
                    <a:cubicBezTo>
                      <a:pt x="4875" y="257518"/>
                      <a:pt x="0" y="285637"/>
                      <a:pt x="12170" y="308394"/>
                    </a:cubicBezTo>
                    <a:cubicBezTo>
                      <a:pt x="24339" y="331151"/>
                      <a:pt x="50432" y="342710"/>
                      <a:pt x="75463" y="336432"/>
                    </a:cubicBezTo>
                    <a:cubicBezTo>
                      <a:pt x="100495" y="330155"/>
                      <a:pt x="118045" y="307651"/>
                      <a:pt x="118036" y="281844"/>
                    </a:cubicBezTo>
                    <a:lnTo>
                      <a:pt x="118036" y="147843"/>
                    </a:lnTo>
                    <a:lnTo>
                      <a:pt x="293058" y="104088"/>
                    </a:lnTo>
                    <a:lnTo>
                      <a:pt x="293058" y="185082"/>
                    </a:lnTo>
                    <a:cubicBezTo>
                      <a:pt x="271600" y="170745"/>
                      <a:pt x="243139" y="172846"/>
                      <a:pt x="224019" y="190179"/>
                    </a:cubicBezTo>
                    <a:cubicBezTo>
                      <a:pt x="204900" y="207512"/>
                      <a:pt x="200025" y="235631"/>
                      <a:pt x="212195" y="258388"/>
                    </a:cubicBezTo>
                    <a:cubicBezTo>
                      <a:pt x="224364" y="281145"/>
                      <a:pt x="250457" y="292704"/>
                      <a:pt x="275488" y="286426"/>
                    </a:cubicBezTo>
                    <a:cubicBezTo>
                      <a:pt x="300520" y="280149"/>
                      <a:pt x="318070" y="257645"/>
                      <a:pt x="318061" y="231838"/>
                    </a:cubicBezTo>
                    <a:lnTo>
                      <a:pt x="318061" y="13061"/>
                    </a:lnTo>
                    <a:cubicBezTo>
                      <a:pt x="318062" y="9208"/>
                      <a:pt x="316286" y="5570"/>
                      <a:pt x="313248" y="3200"/>
                    </a:cubicBezTo>
                    <a:close/>
                    <a:moveTo>
                      <a:pt x="61779" y="313098"/>
                    </a:moveTo>
                    <a:cubicBezTo>
                      <a:pt x="44518" y="313098"/>
                      <a:pt x="30525" y="299105"/>
                      <a:pt x="30525" y="281844"/>
                    </a:cubicBezTo>
                    <a:cubicBezTo>
                      <a:pt x="30525" y="264583"/>
                      <a:pt x="44518" y="250590"/>
                      <a:pt x="61779" y="250590"/>
                    </a:cubicBezTo>
                    <a:cubicBezTo>
                      <a:pt x="79040" y="250590"/>
                      <a:pt x="93033" y="264583"/>
                      <a:pt x="93033" y="281844"/>
                    </a:cubicBezTo>
                    <a:cubicBezTo>
                      <a:pt x="93033" y="299105"/>
                      <a:pt x="79040" y="313098"/>
                      <a:pt x="61779" y="313098"/>
                    </a:cubicBezTo>
                    <a:close/>
                    <a:moveTo>
                      <a:pt x="118036" y="122059"/>
                    </a:moveTo>
                    <a:lnTo>
                      <a:pt x="118036" y="72834"/>
                    </a:lnTo>
                    <a:lnTo>
                      <a:pt x="293058" y="29078"/>
                    </a:lnTo>
                    <a:lnTo>
                      <a:pt x="293058" y="78303"/>
                    </a:lnTo>
                    <a:close/>
                    <a:moveTo>
                      <a:pt x="261804" y="263092"/>
                    </a:moveTo>
                    <a:cubicBezTo>
                      <a:pt x="244543" y="263092"/>
                      <a:pt x="230550" y="249099"/>
                      <a:pt x="230550" y="231838"/>
                    </a:cubicBezTo>
                    <a:cubicBezTo>
                      <a:pt x="230550" y="214577"/>
                      <a:pt x="244543" y="200584"/>
                      <a:pt x="261804" y="200584"/>
                    </a:cubicBezTo>
                    <a:cubicBezTo>
                      <a:pt x="279065" y="200584"/>
                      <a:pt x="293058" y="214577"/>
                      <a:pt x="293058" y="231838"/>
                    </a:cubicBezTo>
                    <a:cubicBezTo>
                      <a:pt x="293058" y="249099"/>
                      <a:pt x="279065" y="263092"/>
                      <a:pt x="261804" y="263092"/>
                    </a:cubicBezTo>
                    <a:close/>
                  </a:path>
                </a:pathLst>
              </a:custGeom>
              <a:solidFill>
                <a:srgbClr val="24212B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4893945" y="4260532"/>
              <a:ext cx="131256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GarageBand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97755" y="4578668"/>
              <a:ext cx="26806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好玩，但新手仍会被术语拦住。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191500" y="3524250"/>
              <a:ext cx="2857500" cy="1333500"/>
            </a:xfrm>
            <a:prstGeom prst="roundRect">
              <a:avLst>
                <a:gd name="adj" fmla="val 5714"/>
              </a:avLst>
            </a:prstGeom>
            <a:solidFill>
              <a:srgbClr val="5C7CF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476655" y="3784402"/>
              <a:ext cx="325041" cy="337542"/>
              <a:chOff x="8476655" y="3784402"/>
              <a:chExt cx="325041" cy="33754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489156" y="3859411"/>
                <a:ext cx="300038" cy="250031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250031">
                    <a:moveTo>
                      <a:pt x="262533" y="0"/>
                    </a:moveTo>
                    <a:lnTo>
                      <a:pt x="37505" y="0"/>
                    </a:lnTo>
                    <a:cubicBezTo>
                      <a:pt x="16791" y="0"/>
                      <a:pt x="0" y="16791"/>
                      <a:pt x="0" y="37505"/>
                    </a:cubicBezTo>
                    <a:lnTo>
                      <a:pt x="0" y="212527"/>
                    </a:lnTo>
                    <a:cubicBezTo>
                      <a:pt x="0" y="233240"/>
                      <a:pt x="16791" y="250031"/>
                      <a:pt x="37505" y="250031"/>
                    </a:cubicBezTo>
                    <a:lnTo>
                      <a:pt x="262533" y="250031"/>
                    </a:lnTo>
                    <a:cubicBezTo>
                      <a:pt x="283246" y="250031"/>
                      <a:pt x="300038" y="233240"/>
                      <a:pt x="300038" y="212527"/>
                    </a:cubicBezTo>
                    <a:lnTo>
                      <a:pt x="300038" y="37505"/>
                    </a:lnTo>
                    <a:cubicBezTo>
                      <a:pt x="300038" y="16791"/>
                      <a:pt x="283246" y="0"/>
                      <a:pt x="262533" y="0"/>
                    </a:cubicBezTo>
                    <a:close/>
                    <a:moveTo>
                      <a:pt x="206276" y="200025"/>
                    </a:moveTo>
                    <a:lnTo>
                      <a:pt x="93762" y="200025"/>
                    </a:lnTo>
                    <a:cubicBezTo>
                      <a:pt x="76501" y="200025"/>
                      <a:pt x="62508" y="186032"/>
                      <a:pt x="62508" y="168771"/>
                    </a:cubicBezTo>
                    <a:cubicBezTo>
                      <a:pt x="62508" y="151510"/>
                      <a:pt x="76501" y="137517"/>
                      <a:pt x="93762" y="137517"/>
                    </a:cubicBezTo>
                    <a:lnTo>
                      <a:pt x="206276" y="137517"/>
                    </a:lnTo>
                    <a:cubicBezTo>
                      <a:pt x="223537" y="137517"/>
                      <a:pt x="237530" y="151510"/>
                      <a:pt x="237530" y="168771"/>
                    </a:cubicBezTo>
                    <a:cubicBezTo>
                      <a:pt x="237530" y="186032"/>
                      <a:pt x="223537" y="200025"/>
                      <a:pt x="206276" y="200025"/>
                    </a:cubicBezTo>
                    <a:close/>
                  </a:path>
                </a:pathLst>
              </a:custGeom>
              <a:solidFill>
                <a:srgbClr val="FFF7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476655" y="3784402"/>
                <a:ext cx="325041" cy="337542"/>
              </a:xfrm>
              <a:custGeom>
                <a:avLst/>
                <a:gdLst/>
                <a:ahLst/>
                <a:cxnLst/>
                <a:rect l="l" t="t" r="r" b="b"/>
                <a:pathLst>
                  <a:path w="325041" h="337542">
                    <a:moveTo>
                      <a:pt x="275034" y="62508"/>
                    </a:moveTo>
                    <a:lnTo>
                      <a:pt x="175022" y="62508"/>
                    </a:lnTo>
                    <a:lnTo>
                      <a:pt x="175022" y="12502"/>
                    </a:lnTo>
                    <a:cubicBezTo>
                      <a:pt x="175022" y="5597"/>
                      <a:pt x="169425" y="0"/>
                      <a:pt x="162520" y="0"/>
                    </a:cubicBezTo>
                    <a:cubicBezTo>
                      <a:pt x="155616" y="0"/>
                      <a:pt x="150019" y="5597"/>
                      <a:pt x="150019" y="12502"/>
                    </a:cubicBezTo>
                    <a:lnTo>
                      <a:pt x="150019" y="62508"/>
                    </a:lnTo>
                    <a:lnTo>
                      <a:pt x="50006" y="62508"/>
                    </a:lnTo>
                    <a:cubicBezTo>
                      <a:pt x="22389" y="62508"/>
                      <a:pt x="0" y="84896"/>
                      <a:pt x="0" y="112514"/>
                    </a:cubicBezTo>
                    <a:lnTo>
                      <a:pt x="0" y="287536"/>
                    </a:lnTo>
                    <a:cubicBezTo>
                      <a:pt x="0" y="315154"/>
                      <a:pt x="22389" y="337542"/>
                      <a:pt x="50006" y="337542"/>
                    </a:cubicBezTo>
                    <a:lnTo>
                      <a:pt x="275034" y="337542"/>
                    </a:lnTo>
                    <a:cubicBezTo>
                      <a:pt x="302652" y="337542"/>
                      <a:pt x="325041" y="315154"/>
                      <a:pt x="325041" y="287536"/>
                    </a:cubicBezTo>
                    <a:lnTo>
                      <a:pt x="325041" y="112514"/>
                    </a:lnTo>
                    <a:cubicBezTo>
                      <a:pt x="325041" y="84896"/>
                      <a:pt x="302652" y="62508"/>
                      <a:pt x="275034" y="62508"/>
                    </a:cubicBezTo>
                    <a:close/>
                    <a:moveTo>
                      <a:pt x="300038" y="287536"/>
                    </a:moveTo>
                    <a:cubicBezTo>
                      <a:pt x="300038" y="301345"/>
                      <a:pt x="288843" y="312539"/>
                      <a:pt x="275034" y="312539"/>
                    </a:cubicBezTo>
                    <a:lnTo>
                      <a:pt x="50006" y="312539"/>
                    </a:lnTo>
                    <a:cubicBezTo>
                      <a:pt x="36197" y="312539"/>
                      <a:pt x="25003" y="301345"/>
                      <a:pt x="25003" y="287536"/>
                    </a:cubicBezTo>
                    <a:lnTo>
                      <a:pt x="25003" y="112514"/>
                    </a:lnTo>
                    <a:cubicBezTo>
                      <a:pt x="25003" y="98705"/>
                      <a:pt x="36197" y="87511"/>
                      <a:pt x="50006" y="87511"/>
                    </a:cubicBezTo>
                    <a:lnTo>
                      <a:pt x="275034" y="87511"/>
                    </a:lnTo>
                    <a:cubicBezTo>
                      <a:pt x="288843" y="87511"/>
                      <a:pt x="300038" y="98705"/>
                      <a:pt x="300038" y="112514"/>
                    </a:cubicBezTo>
                    <a:close/>
                    <a:moveTo>
                      <a:pt x="218777" y="200025"/>
                    </a:moveTo>
                    <a:lnTo>
                      <a:pt x="106263" y="200025"/>
                    </a:lnTo>
                    <a:cubicBezTo>
                      <a:pt x="82098" y="200025"/>
                      <a:pt x="62508" y="219615"/>
                      <a:pt x="62508" y="243780"/>
                    </a:cubicBezTo>
                    <a:cubicBezTo>
                      <a:pt x="62508" y="267946"/>
                      <a:pt x="82098" y="287536"/>
                      <a:pt x="106263" y="287536"/>
                    </a:cubicBezTo>
                    <a:lnTo>
                      <a:pt x="218777" y="287536"/>
                    </a:lnTo>
                    <a:cubicBezTo>
                      <a:pt x="242943" y="287536"/>
                      <a:pt x="262533" y="267946"/>
                      <a:pt x="262533" y="243780"/>
                    </a:cubicBezTo>
                    <a:cubicBezTo>
                      <a:pt x="262533" y="219615"/>
                      <a:pt x="242943" y="200025"/>
                      <a:pt x="218777" y="200025"/>
                    </a:cubicBezTo>
                    <a:close/>
                    <a:moveTo>
                      <a:pt x="175022" y="225028"/>
                    </a:moveTo>
                    <a:lnTo>
                      <a:pt x="175022" y="262533"/>
                    </a:lnTo>
                    <a:lnTo>
                      <a:pt x="150019" y="262533"/>
                    </a:lnTo>
                    <a:lnTo>
                      <a:pt x="150019" y="225028"/>
                    </a:lnTo>
                    <a:close/>
                    <a:moveTo>
                      <a:pt x="87511" y="243780"/>
                    </a:moveTo>
                    <a:cubicBezTo>
                      <a:pt x="87511" y="233424"/>
                      <a:pt x="95907" y="225028"/>
                      <a:pt x="106263" y="225028"/>
                    </a:cubicBezTo>
                    <a:lnTo>
                      <a:pt x="125016" y="225028"/>
                    </a:lnTo>
                    <a:lnTo>
                      <a:pt x="125016" y="262533"/>
                    </a:lnTo>
                    <a:lnTo>
                      <a:pt x="106263" y="262533"/>
                    </a:lnTo>
                    <a:cubicBezTo>
                      <a:pt x="95907" y="262533"/>
                      <a:pt x="87511" y="254137"/>
                      <a:pt x="87511" y="243780"/>
                    </a:cubicBezTo>
                    <a:close/>
                    <a:moveTo>
                      <a:pt x="218777" y="262533"/>
                    </a:moveTo>
                    <a:lnTo>
                      <a:pt x="200025" y="262533"/>
                    </a:lnTo>
                    <a:lnTo>
                      <a:pt x="200025" y="225028"/>
                    </a:lnTo>
                    <a:lnTo>
                      <a:pt x="218777" y="225028"/>
                    </a:lnTo>
                    <a:cubicBezTo>
                      <a:pt x="229134" y="225028"/>
                      <a:pt x="237530" y="233424"/>
                      <a:pt x="237530" y="243780"/>
                    </a:cubicBezTo>
                    <a:cubicBezTo>
                      <a:pt x="237530" y="254137"/>
                      <a:pt x="229134" y="262533"/>
                      <a:pt x="218777" y="262533"/>
                    </a:cubicBezTo>
                    <a:close/>
                    <a:moveTo>
                      <a:pt x="75009" y="156270"/>
                    </a:moveTo>
                    <a:cubicBezTo>
                      <a:pt x="75009" y="145913"/>
                      <a:pt x="83405" y="137517"/>
                      <a:pt x="93762" y="137517"/>
                    </a:cubicBezTo>
                    <a:cubicBezTo>
                      <a:pt x="104118" y="137517"/>
                      <a:pt x="112514" y="145913"/>
                      <a:pt x="112514" y="156270"/>
                    </a:cubicBezTo>
                    <a:cubicBezTo>
                      <a:pt x="112514" y="166626"/>
                      <a:pt x="104118" y="175022"/>
                      <a:pt x="93762" y="175022"/>
                    </a:cubicBezTo>
                    <a:cubicBezTo>
                      <a:pt x="83405" y="175022"/>
                      <a:pt x="75009" y="166626"/>
                      <a:pt x="75009" y="156270"/>
                    </a:cubicBezTo>
                    <a:close/>
                    <a:moveTo>
                      <a:pt x="212527" y="156270"/>
                    </a:moveTo>
                    <a:cubicBezTo>
                      <a:pt x="212527" y="145913"/>
                      <a:pt x="220922" y="137517"/>
                      <a:pt x="231279" y="137517"/>
                    </a:cubicBezTo>
                    <a:cubicBezTo>
                      <a:pt x="241636" y="137517"/>
                      <a:pt x="250031" y="145913"/>
                      <a:pt x="250031" y="156270"/>
                    </a:cubicBezTo>
                    <a:cubicBezTo>
                      <a:pt x="250031" y="166626"/>
                      <a:pt x="241636" y="175022"/>
                      <a:pt x="231279" y="175022"/>
                    </a:cubicBezTo>
                    <a:cubicBezTo>
                      <a:pt x="220922" y="175022"/>
                      <a:pt x="212527" y="166626"/>
                      <a:pt x="212527" y="156270"/>
                    </a:cubicBezTo>
                    <a:close/>
                  </a:path>
                </a:pathLst>
              </a:custGeom>
              <a:solidFill>
                <a:srgbClr val="FFF7E8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418195" y="4260532"/>
              <a:ext cx="10006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AI 生成歌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22005" y="4578668"/>
              <a:ext cx="23025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轻松，但人的手感消失了。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171700" y="5391150"/>
            <a:ext cx="7848600" cy="514350"/>
            <a:chOff x="2171700" y="5391150"/>
            <a:chExt cx="7848600" cy="514350"/>
          </a:xfrm>
        </p:grpSpPr>
        <p:sp>
          <p:nvSpPr>
            <p:cNvPr id="30" name="Rectangle 30"/>
            <p:cNvSpPr/>
            <p:nvPr/>
          </p:nvSpPr>
          <p:spPr>
            <a:xfrm>
              <a:off x="2171700" y="5391150"/>
              <a:ext cx="7848600" cy="514350"/>
            </a:xfrm>
            <a:prstGeom prst="roundRect">
              <a:avLst>
                <a:gd name="adj" fmla="val 14815"/>
              </a:avLst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013442" y="5562600"/>
              <a:ext cx="41651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PlayBand AI：让人先玩，再让 Agent 编曲。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089453" y="620839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D6577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685800" y="685800"/>
              <a:ext cx="10820400" cy="5486400"/>
            </a:xfrm>
            <a:prstGeom prst="roundRect">
              <a:avLst>
                <a:gd name="adj" fmla="val 1389"/>
              </a:avLst>
            </a:prstGeom>
            <a:solidFill>
              <a:srgbClr val="FFFFFF"/>
            </a:solidFill>
            <a:ln w="38100">
              <a:solidFill>
                <a:srgbClr val="24212B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991600" y="1047750"/>
              <a:ext cx="1809750" cy="1809750"/>
            </a:xfrm>
            <a:prstGeom prst="roundRect">
              <a:avLst>
                <a:gd name="adj" fmla="val 4211"/>
              </a:avLst>
            </a:prstGeom>
            <a:solidFill>
              <a:srgbClr val="FFD43B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9677400" y="1714351"/>
              <a:ext cx="457200" cy="381299"/>
              <a:chOff x="9677400" y="1714351"/>
              <a:chExt cx="457200" cy="381299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9791700" y="1733550"/>
                <a:ext cx="2667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42900">
                    <a:moveTo>
                      <a:pt x="114300" y="57150"/>
                    </a:moveTo>
                    <a:cubicBezTo>
                      <a:pt x="114300" y="88713"/>
                      <a:pt x="88713" y="114300"/>
                      <a:pt x="57150" y="114300"/>
                    </a:cubicBezTo>
                    <a:cubicBezTo>
                      <a:pt x="25587" y="114300"/>
                      <a:pt x="0" y="88713"/>
                      <a:pt x="0" y="57150"/>
                    </a:cubicBezTo>
                    <a:cubicBezTo>
                      <a:pt x="0" y="25587"/>
                      <a:pt x="25587" y="0"/>
                      <a:pt x="57150" y="0"/>
                    </a:cubicBezTo>
                    <a:cubicBezTo>
                      <a:pt x="88713" y="0"/>
                      <a:pt x="114300" y="25587"/>
                      <a:pt x="114300" y="57150"/>
                    </a:cubicBezTo>
                    <a:close/>
                    <a:moveTo>
                      <a:pt x="209550" y="228600"/>
                    </a:moveTo>
                    <a:cubicBezTo>
                      <a:pt x="177987" y="228600"/>
                      <a:pt x="152400" y="254187"/>
                      <a:pt x="152400" y="285750"/>
                    </a:cubicBezTo>
                    <a:cubicBezTo>
                      <a:pt x="152400" y="317313"/>
                      <a:pt x="177987" y="342900"/>
                      <a:pt x="209550" y="342900"/>
                    </a:cubicBezTo>
                    <a:cubicBezTo>
                      <a:pt x="241113" y="342900"/>
                      <a:pt x="266700" y="317313"/>
                      <a:pt x="266700" y="285750"/>
                    </a:cubicBezTo>
                    <a:cubicBezTo>
                      <a:pt x="266700" y="254187"/>
                      <a:pt x="241113" y="228600"/>
                      <a:pt x="209550" y="228600"/>
                    </a:cubicBezTo>
                    <a:close/>
                  </a:path>
                </a:pathLst>
              </a:custGeom>
              <a:solidFill>
                <a:srgbClr val="24212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677400" y="1714351"/>
                <a:ext cx="457200" cy="381299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381299">
                    <a:moveTo>
                      <a:pt x="19050" y="95399"/>
                    </a:moveTo>
                    <a:lnTo>
                      <a:pt x="97631" y="95399"/>
                    </a:lnTo>
                    <a:cubicBezTo>
                      <a:pt x="106264" y="129116"/>
                      <a:pt x="136645" y="152699"/>
                      <a:pt x="171450" y="152699"/>
                    </a:cubicBezTo>
                    <a:cubicBezTo>
                      <a:pt x="206255" y="152699"/>
                      <a:pt x="236636" y="129116"/>
                      <a:pt x="245269" y="95399"/>
                    </a:cubicBezTo>
                    <a:lnTo>
                      <a:pt x="438150" y="95399"/>
                    </a:lnTo>
                    <a:cubicBezTo>
                      <a:pt x="448671" y="95399"/>
                      <a:pt x="457200" y="86870"/>
                      <a:pt x="457200" y="76349"/>
                    </a:cubicBezTo>
                    <a:cubicBezTo>
                      <a:pt x="457200" y="65828"/>
                      <a:pt x="448671" y="57299"/>
                      <a:pt x="438150" y="57299"/>
                    </a:cubicBezTo>
                    <a:lnTo>
                      <a:pt x="245269" y="57299"/>
                    </a:lnTo>
                    <a:cubicBezTo>
                      <a:pt x="236636" y="23583"/>
                      <a:pt x="206255" y="0"/>
                      <a:pt x="171450" y="0"/>
                    </a:cubicBezTo>
                    <a:cubicBezTo>
                      <a:pt x="136645" y="0"/>
                      <a:pt x="106264" y="23583"/>
                      <a:pt x="97631" y="57299"/>
                    </a:cubicBezTo>
                    <a:lnTo>
                      <a:pt x="19050" y="57299"/>
                    </a:lnTo>
                    <a:cubicBezTo>
                      <a:pt x="8529" y="57299"/>
                      <a:pt x="0" y="65828"/>
                      <a:pt x="0" y="76349"/>
                    </a:cubicBezTo>
                    <a:cubicBezTo>
                      <a:pt x="0" y="86870"/>
                      <a:pt x="8529" y="95399"/>
                      <a:pt x="19050" y="95399"/>
                    </a:cubicBezTo>
                    <a:close/>
                    <a:moveTo>
                      <a:pt x="171450" y="38249"/>
                    </a:moveTo>
                    <a:cubicBezTo>
                      <a:pt x="192492" y="38249"/>
                      <a:pt x="209550" y="55307"/>
                      <a:pt x="209550" y="76349"/>
                    </a:cubicBezTo>
                    <a:cubicBezTo>
                      <a:pt x="209550" y="97391"/>
                      <a:pt x="192492" y="114449"/>
                      <a:pt x="171450" y="114449"/>
                    </a:cubicBezTo>
                    <a:cubicBezTo>
                      <a:pt x="150408" y="114449"/>
                      <a:pt x="133350" y="97391"/>
                      <a:pt x="133350" y="76349"/>
                    </a:cubicBezTo>
                    <a:cubicBezTo>
                      <a:pt x="133350" y="55307"/>
                      <a:pt x="150408" y="38249"/>
                      <a:pt x="171450" y="38249"/>
                    </a:cubicBezTo>
                    <a:close/>
                    <a:moveTo>
                      <a:pt x="438150" y="285899"/>
                    </a:moveTo>
                    <a:lnTo>
                      <a:pt x="397669" y="285899"/>
                    </a:lnTo>
                    <a:cubicBezTo>
                      <a:pt x="389036" y="252183"/>
                      <a:pt x="358655" y="228600"/>
                      <a:pt x="323850" y="228600"/>
                    </a:cubicBezTo>
                    <a:cubicBezTo>
                      <a:pt x="289045" y="228600"/>
                      <a:pt x="258664" y="252183"/>
                      <a:pt x="250031" y="285899"/>
                    </a:cubicBezTo>
                    <a:lnTo>
                      <a:pt x="19050" y="285899"/>
                    </a:lnTo>
                    <a:cubicBezTo>
                      <a:pt x="8529" y="285899"/>
                      <a:pt x="0" y="294428"/>
                      <a:pt x="0" y="304949"/>
                    </a:cubicBezTo>
                    <a:cubicBezTo>
                      <a:pt x="0" y="315470"/>
                      <a:pt x="8529" y="323999"/>
                      <a:pt x="19050" y="323999"/>
                    </a:cubicBezTo>
                    <a:lnTo>
                      <a:pt x="250031" y="323999"/>
                    </a:lnTo>
                    <a:cubicBezTo>
                      <a:pt x="258664" y="357716"/>
                      <a:pt x="289045" y="381299"/>
                      <a:pt x="323850" y="381299"/>
                    </a:cubicBezTo>
                    <a:cubicBezTo>
                      <a:pt x="358655" y="381299"/>
                      <a:pt x="389036" y="357716"/>
                      <a:pt x="397669" y="323999"/>
                    </a:cubicBezTo>
                    <a:lnTo>
                      <a:pt x="438150" y="323999"/>
                    </a:lnTo>
                    <a:cubicBezTo>
                      <a:pt x="448671" y="323999"/>
                      <a:pt x="457200" y="315470"/>
                      <a:pt x="457200" y="304949"/>
                    </a:cubicBezTo>
                    <a:cubicBezTo>
                      <a:pt x="457200" y="294428"/>
                      <a:pt x="448671" y="285899"/>
                      <a:pt x="438150" y="285899"/>
                    </a:cubicBezTo>
                    <a:close/>
                    <a:moveTo>
                      <a:pt x="323850" y="343049"/>
                    </a:moveTo>
                    <a:cubicBezTo>
                      <a:pt x="302808" y="343049"/>
                      <a:pt x="285750" y="325991"/>
                      <a:pt x="285750" y="304949"/>
                    </a:cubicBezTo>
                    <a:cubicBezTo>
                      <a:pt x="285750" y="283907"/>
                      <a:pt x="302808" y="266849"/>
                      <a:pt x="323850" y="266849"/>
                    </a:cubicBezTo>
                    <a:cubicBezTo>
                      <a:pt x="344892" y="266849"/>
                      <a:pt x="361950" y="283907"/>
                      <a:pt x="361950" y="304949"/>
                    </a:cubicBezTo>
                    <a:cubicBezTo>
                      <a:pt x="361950" y="325991"/>
                      <a:pt x="344892" y="343049"/>
                      <a:pt x="323850" y="343049"/>
                    </a:cubicBezTo>
                    <a:close/>
                  </a:path>
                </a:pathLst>
              </a:custGeom>
              <a:solidFill>
                <a:srgbClr val="24212B"/>
              </a:solidFill>
              <a:ln>
                <a:noFill/>
              </a:ln>
            </p:spPr>
          </p:sp>
        </p:grpSp>
      </p:grpSp>
      <p:grpSp>
        <p:nvGrpSpPr>
          <p:cNvPr id="12" name="Group 12"/>
          <p:cNvGrpSpPr/>
          <p:nvPr/>
        </p:nvGrpSpPr>
        <p:grpSpPr>
          <a:xfrm>
            <a:off x="977265" y="1359218"/>
            <a:ext cx="5291569" cy="1650682"/>
            <a:chOff x="977265" y="1359218"/>
            <a:chExt cx="5291569" cy="1650682"/>
          </a:xfrm>
        </p:grpSpPr>
        <p:sp>
          <p:nvSpPr>
            <p:cNvPr id="9" name="TextBox 9"/>
            <p:cNvSpPr txBox="1"/>
            <p:nvPr/>
          </p:nvSpPr>
          <p:spPr>
            <a:xfrm>
              <a:off x="1011555" y="13592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5A3D"/>
                  </a:solidFill>
                  <a:latin typeface="Arial"/>
                  <a:ea typeface="Microsoft YaHei"/>
                  <a:cs typeface="Arial"/>
                </a:rPr>
                <a:t>项目背景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77265" y="1810702"/>
              <a:ext cx="5291569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AI 音乐忘了第一件事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6320" y="2522220"/>
              <a:ext cx="17411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5A3D"/>
                  </a:solidFill>
                  <a:latin typeface="Arial"/>
                  <a:ea typeface="Microsoft YaHei"/>
                  <a:cs typeface="Arial"/>
                </a:rPr>
                <a:t>先玩起来。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00150" y="3695700"/>
            <a:ext cx="8724900" cy="1123950"/>
            <a:chOff x="1200150" y="3695700"/>
            <a:chExt cx="8724900" cy="1123950"/>
          </a:xfrm>
        </p:grpSpPr>
        <p:sp>
          <p:nvSpPr>
            <p:cNvPr id="13" name="Rectangle 13"/>
            <p:cNvSpPr/>
            <p:nvPr/>
          </p:nvSpPr>
          <p:spPr>
            <a:xfrm>
              <a:off x="1200150" y="3695700"/>
              <a:ext cx="4095750" cy="1123950"/>
            </a:xfrm>
            <a:prstGeom prst="roundRect">
              <a:avLst>
                <a:gd name="adj" fmla="val 6780"/>
              </a:avLst>
            </a:prstGeom>
            <a:solidFill>
              <a:srgbClr val="FFF7E8"/>
            </a:solidFill>
            <a:ln w="28575">
              <a:solidFill>
                <a:srgbClr val="E7DCC7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83995" y="3917632"/>
              <a:ext cx="153204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专业 DAW 太重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87805" y="427386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乐理、轨道、插件，一打开就像考试。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829300" y="3695700"/>
              <a:ext cx="4095750" cy="1123950"/>
            </a:xfrm>
            <a:prstGeom prst="roundRect">
              <a:avLst>
                <a:gd name="adj" fmla="val 6780"/>
              </a:avLst>
            </a:prstGeom>
            <a:solidFill>
              <a:srgbClr val="FFF7E8"/>
            </a:solidFill>
            <a:ln w="28575">
              <a:solidFill>
                <a:srgbClr val="E7DCC7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113145" y="3917632"/>
              <a:ext cx="161290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Prompt 又太轻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17908" y="4281964"/>
              <a:ext cx="16678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结果很快出现，</a:t>
              </a:r>
              <a:r>
                <a:rPr lang="zh-CN" sz="1275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但不像“我做出来的”。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11555" y="5607368"/>
            <a:ext cx="10239375" cy="274320"/>
            <a:chOff x="1011555" y="5607368"/>
            <a:chExt cx="10239375" cy="274320"/>
          </a:xfrm>
        </p:grpSpPr>
        <p:sp>
          <p:nvSpPr>
            <p:cNvPr id="20" name="TextBox 20"/>
            <p:cNvSpPr txBox="1"/>
            <p:nvPr/>
          </p:nvSpPr>
          <p:spPr>
            <a:xfrm>
              <a:off x="1011555" y="5607368"/>
              <a:ext cx="46559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中间缺一个入口：让普通人先表达手感，再被 AI 放大。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89453" y="565594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742950" y="781050"/>
              <a:ext cx="10706100" cy="5295900"/>
            </a:xfrm>
            <a:prstGeom prst="roundRect">
              <a:avLst>
                <a:gd name="adj" fmla="val 1439"/>
              </a:avLst>
            </a:prstGeom>
            <a:solidFill>
              <a:srgbClr val="FFFFFF"/>
            </a:solidFill>
            <a:ln w="28575">
              <a:solidFill>
                <a:srgbClr val="E7DCC7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011555" y="1359218"/>
            <a:ext cx="8058933" cy="1379220"/>
            <a:chOff x="1011555" y="1359218"/>
            <a:chExt cx="8058933" cy="1379220"/>
          </a:xfrm>
        </p:grpSpPr>
        <p:sp>
          <p:nvSpPr>
            <p:cNvPr id="5" name="TextBox 5"/>
            <p:cNvSpPr txBox="1"/>
            <p:nvPr/>
          </p:nvSpPr>
          <p:spPr>
            <a:xfrm>
              <a:off x="1049655" y="13592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C7CFA"/>
                  </a:solidFill>
                  <a:latin typeface="Arial"/>
                  <a:ea typeface="Microsoft YaHei"/>
                  <a:cs typeface="Arial"/>
                </a:rPr>
                <a:t>产品洞察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1555" y="1854518"/>
              <a:ext cx="8058933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灵感来自人，编曲交给 Agent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81100" y="3352800"/>
            <a:ext cx="9829800" cy="1200150"/>
            <a:chOff x="1181100" y="3352800"/>
            <a:chExt cx="9829800" cy="1200150"/>
          </a:xfrm>
        </p:grpSpPr>
        <p:sp>
          <p:nvSpPr>
            <p:cNvPr id="8" name="Rectangle 8"/>
            <p:cNvSpPr/>
            <p:nvPr/>
          </p:nvSpPr>
          <p:spPr>
            <a:xfrm>
              <a:off x="1181100" y="3352800"/>
              <a:ext cx="2781300" cy="1200150"/>
            </a:xfrm>
            <a:prstGeom prst="roundRect">
              <a:avLst>
                <a:gd name="adj" fmla="val 6349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43990" y="359664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人负责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48752" y="3999071"/>
              <a:ext cx="203144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品味、节奏感、玩一下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705350" y="3352800"/>
              <a:ext cx="2781300" cy="1200150"/>
            </a:xfrm>
            <a:prstGeom prst="roundRect">
              <a:avLst>
                <a:gd name="adj" fmla="val 6349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968240" y="3596640"/>
              <a:ext cx="131847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Agent 负责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73002" y="3999071"/>
              <a:ext cx="16323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结构、配器、变化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229600" y="3352800"/>
              <a:ext cx="2781300" cy="1200150"/>
            </a:xfrm>
            <a:prstGeom prst="roundRect">
              <a:avLst>
                <a:gd name="adj" fmla="val 6349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92490" y="35966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界面负责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7252" y="3999071"/>
              <a:ext cx="203144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看得见、听得到、能改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419350" y="5219700"/>
            <a:ext cx="7353300" cy="552450"/>
            <a:chOff x="2419350" y="5219700"/>
            <a:chExt cx="7353300" cy="552450"/>
          </a:xfrm>
        </p:grpSpPr>
        <p:sp>
          <p:nvSpPr>
            <p:cNvPr id="18" name="Rectangle 18"/>
            <p:cNvSpPr/>
            <p:nvPr/>
          </p:nvSpPr>
          <p:spPr>
            <a:xfrm>
              <a:off x="2419350" y="5219700"/>
              <a:ext cx="7353300" cy="552450"/>
            </a:xfrm>
            <a:prstGeom prst="roundRect">
              <a:avLst>
                <a:gd name="adj" fmla="val 13793"/>
              </a:avLst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71674" y="5410200"/>
              <a:ext cx="44486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这不是黑箱音频，而是可继续创作的音乐结构。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089453" y="622744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D6577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609600" y="609600"/>
              <a:ext cx="10972800" cy="5638800"/>
            </a:xfrm>
            <a:prstGeom prst="roundRect">
              <a:avLst>
                <a:gd name="adj" fmla="val 1351"/>
              </a:avLst>
            </a:prstGeom>
            <a:solidFill>
              <a:srgbClr val="FFFFFF"/>
            </a:solidFill>
            <a:ln w="38100">
              <a:solidFill>
                <a:srgbClr val="24212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01065" y="1187768"/>
            <a:ext cx="7616559" cy="1198244"/>
            <a:chOff x="901065" y="1187768"/>
            <a:chExt cx="7616559" cy="1198244"/>
          </a:xfrm>
        </p:grpSpPr>
        <p:sp>
          <p:nvSpPr>
            <p:cNvPr id="5" name="TextBox 5"/>
            <p:cNvSpPr txBox="1"/>
            <p:nvPr/>
          </p:nvSpPr>
          <p:spPr>
            <a:xfrm>
              <a:off x="935355" y="11877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C997"/>
                  </a:solidFill>
                  <a:latin typeface="Arial"/>
                  <a:ea typeface="Microsoft YaHei"/>
                  <a:cs typeface="Arial"/>
                </a:rPr>
                <a:t>解决方案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1065" y="1563052"/>
              <a:ext cx="7616559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几下敲击，变成四轨乐队 loop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43000" y="3028950"/>
            <a:ext cx="8610600" cy="1295400"/>
            <a:chOff x="1143000" y="3028950"/>
            <a:chExt cx="8610600" cy="1295400"/>
          </a:xfrm>
        </p:grpSpPr>
        <p:sp>
          <p:nvSpPr>
            <p:cNvPr id="8" name="Rectangle 8"/>
            <p:cNvSpPr/>
            <p:nvPr/>
          </p:nvSpPr>
          <p:spPr>
            <a:xfrm>
              <a:off x="1143000" y="3028950"/>
              <a:ext cx="2095500" cy="1295400"/>
            </a:xfrm>
            <a:prstGeom prst="roundRect">
              <a:avLst>
                <a:gd name="adj" fmla="val 5882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89843" y="336804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敲一下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88394" y="3759518"/>
              <a:ext cx="14047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大 pad 捕捉手感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3543300" y="3467100"/>
              <a:ext cx="552450" cy="419100"/>
            </a:xfrm>
            <a:custGeom>
              <a:avLst/>
              <a:gdLst/>
              <a:ahLst/>
              <a:cxnLst/>
              <a:rect l="l" t="t" r="r" b="b"/>
              <a:pathLst>
                <a:path w="552450" h="419100">
                  <a:moveTo>
                    <a:pt x="0" y="0"/>
                  </a:moveTo>
                  <a:lnTo>
                    <a:pt x="552450" y="20955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24212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400550" y="3028950"/>
              <a:ext cx="2095500" cy="1295400"/>
            </a:xfrm>
            <a:prstGeom prst="roundRect">
              <a:avLst>
                <a:gd name="adj" fmla="val 5882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173408" y="336804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补全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55396" y="3759518"/>
              <a:ext cx="13858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生成 8 小节四轨</a:t>
              </a:r>
            </a:p>
          </p:txBody>
        </p:sp>
        <p:sp>
          <p:nvSpPr>
            <p:cNvPr id="15" name="Polygon 15"/>
            <p:cNvSpPr/>
            <p:nvPr/>
          </p:nvSpPr>
          <p:spPr>
            <a:xfrm>
              <a:off x="6800850" y="3467100"/>
              <a:ext cx="552450" cy="419100"/>
            </a:xfrm>
            <a:custGeom>
              <a:avLst/>
              <a:gdLst/>
              <a:ahLst/>
              <a:cxnLst/>
              <a:rect l="l" t="t" r="r" b="b"/>
              <a:pathLst>
                <a:path w="552450" h="419100">
                  <a:moveTo>
                    <a:pt x="0" y="0"/>
                  </a:moveTo>
                  <a:lnTo>
                    <a:pt x="552450" y="20955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24212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58100" y="3028950"/>
              <a:ext cx="2095500" cy="1295400"/>
            </a:xfrm>
            <a:prstGeom prst="roundRect">
              <a:avLst>
                <a:gd name="adj" fmla="val 5882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30958" y="336804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试听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21634" y="37595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满意后再应用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24000" y="5143500"/>
            <a:ext cx="8001000" cy="400050"/>
            <a:chOff x="1524000" y="5143500"/>
            <a:chExt cx="8001000" cy="400050"/>
          </a:xfrm>
        </p:grpSpPr>
        <p:sp>
          <p:nvSpPr>
            <p:cNvPr id="20" name="Rectangle 20"/>
            <p:cNvSpPr/>
            <p:nvPr/>
          </p:nvSpPr>
          <p:spPr>
            <a:xfrm>
              <a:off x="1524000" y="5143500"/>
              <a:ext cx="1714500" cy="400050"/>
            </a:xfrm>
            <a:prstGeom prst="roundRect">
              <a:avLst>
                <a:gd name="adj" fmla="val 19048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269593" y="5264468"/>
              <a:ext cx="2233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鼓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19500" y="5143500"/>
              <a:ext cx="1714500" cy="400050"/>
            </a:xfrm>
            <a:prstGeom prst="roundRect">
              <a:avLst>
                <a:gd name="adj" fmla="val 19048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70581" y="52644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贝斯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715000" y="5143500"/>
              <a:ext cx="1714500" cy="400050"/>
            </a:xfrm>
            <a:prstGeom prst="roundRect">
              <a:avLst>
                <a:gd name="adj" fmla="val 19048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66081" y="52644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吉他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10500" y="5143500"/>
              <a:ext cx="1714500" cy="400050"/>
            </a:xfrm>
            <a:prstGeom prst="roundRect">
              <a:avLst>
                <a:gd name="adj" fmla="val 19048"/>
              </a:avLst>
            </a:prstGeom>
            <a:solidFill>
              <a:srgbClr val="5C7CF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61581" y="52644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键盘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089453" y="586549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D6577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609600" y="514350"/>
              <a:ext cx="10972800" cy="5829300"/>
            </a:xfrm>
            <a:prstGeom prst="roundRect">
              <a:avLst>
                <a:gd name="adj" fmla="val 1307"/>
              </a:avLst>
            </a:prstGeom>
            <a:solidFill>
              <a:srgbClr val="FFF7E8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861060" y="1054418"/>
            <a:ext cx="8339709" cy="1307782"/>
            <a:chOff x="861060" y="1054418"/>
            <a:chExt cx="8339709" cy="1307782"/>
          </a:xfrm>
        </p:grpSpPr>
        <p:sp>
          <p:nvSpPr>
            <p:cNvPr id="5" name="TextBox 5"/>
            <p:cNvSpPr txBox="1"/>
            <p:nvPr/>
          </p:nvSpPr>
          <p:spPr>
            <a:xfrm>
              <a:off x="897255" y="1054418"/>
              <a:ext cx="12440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5A3D"/>
                  </a:solidFill>
                  <a:latin typeface="Arial"/>
                  <a:ea typeface="Microsoft YaHei"/>
                  <a:cs typeface="Arial"/>
                </a:rPr>
                <a:t>60 秒评委演示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61060" y="1508760"/>
              <a:ext cx="8339709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我敲了几下，它变成一支乐队。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143750" y="1485900"/>
            <a:ext cx="3619500" cy="3409950"/>
            <a:chOff x="7143750" y="1485900"/>
            <a:chExt cx="3619500" cy="3409950"/>
          </a:xfrm>
        </p:grpSpPr>
        <p:sp>
          <p:nvSpPr>
            <p:cNvPr id="8" name="Rectangle 8"/>
            <p:cNvSpPr/>
            <p:nvPr/>
          </p:nvSpPr>
          <p:spPr>
            <a:xfrm>
              <a:off x="7143750" y="1485900"/>
              <a:ext cx="3619500" cy="3409950"/>
            </a:xfrm>
            <a:prstGeom prst="roundRect">
              <a:avLst>
                <a:gd name="adj" fmla="val 2235"/>
              </a:avLst>
            </a:prstGeom>
            <a:solidFill>
              <a:srgbClr val="FFFFFF"/>
            </a:solidFill>
            <a:ln w="38100">
              <a:solidFill>
                <a:srgbClr val="24212B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34250" y="1800622"/>
              <a:ext cx="3238500" cy="2361406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7524750" y="4400550"/>
              <a:ext cx="2857500" cy="285750"/>
            </a:xfrm>
            <a:prstGeom prst="roundRect">
              <a:avLst>
                <a:gd name="adj" fmla="val 26667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72854" y="4479131"/>
              <a:ext cx="17612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候选先试听，确认后应用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66800" y="3028950"/>
            <a:ext cx="5448300" cy="838200"/>
            <a:chOff x="1066800" y="3028950"/>
            <a:chExt cx="5448300" cy="838200"/>
          </a:xfrm>
        </p:grpSpPr>
        <p:sp>
          <p:nvSpPr>
            <p:cNvPr id="13" name="Rectangle 13"/>
            <p:cNvSpPr/>
            <p:nvPr/>
          </p:nvSpPr>
          <p:spPr>
            <a:xfrm>
              <a:off x="1066800" y="3028950"/>
              <a:ext cx="1257300" cy="838200"/>
            </a:xfrm>
            <a:prstGeom prst="roundRect">
              <a:avLst>
                <a:gd name="adj" fmla="val 9091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03458" y="3226118"/>
              <a:ext cx="3839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1 敲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44883" y="3517106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短鼓点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2571750" y="3333750"/>
              <a:ext cx="381000" cy="228600"/>
            </a:xfrm>
            <a:custGeom>
              <a:avLst/>
              <a:gdLst/>
              <a:ahLst/>
              <a:cxnLst/>
              <a:rect l="l" t="t" r="r" b="b"/>
              <a:pathLst>
                <a:path w="381000" h="228600">
                  <a:moveTo>
                    <a:pt x="0" y="0"/>
                  </a:moveTo>
                  <a:lnTo>
                    <a:pt x="3810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4212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162300" y="3028950"/>
              <a:ext cx="1257300" cy="838200"/>
            </a:xfrm>
            <a:prstGeom prst="roundRect">
              <a:avLst>
                <a:gd name="adj" fmla="val 9091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598958" y="3226118"/>
              <a:ext cx="3839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2 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30119" y="3517106"/>
              <a:ext cx="7216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MIDI seed</a:t>
              </a:r>
            </a:p>
          </p:txBody>
        </p:sp>
        <p:sp>
          <p:nvSpPr>
            <p:cNvPr id="20" name="Polygon 20"/>
            <p:cNvSpPr/>
            <p:nvPr/>
          </p:nvSpPr>
          <p:spPr>
            <a:xfrm>
              <a:off x="4667250" y="3333750"/>
              <a:ext cx="381000" cy="228600"/>
            </a:xfrm>
            <a:custGeom>
              <a:avLst/>
              <a:gdLst/>
              <a:ahLst/>
              <a:cxnLst/>
              <a:rect l="l" t="t" r="r" b="b"/>
              <a:pathLst>
                <a:path w="381000" h="228600">
                  <a:moveTo>
                    <a:pt x="0" y="0"/>
                  </a:moveTo>
                  <a:lnTo>
                    <a:pt x="3810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4212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257800" y="3028950"/>
              <a:ext cx="1257300" cy="838200"/>
            </a:xfrm>
            <a:prstGeom prst="roundRect">
              <a:avLst>
                <a:gd name="adj" fmla="val 9091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94458" y="3226118"/>
              <a:ext cx="3839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3 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57123" y="35171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四轨乐队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04900" y="4953000"/>
            <a:ext cx="4953000" cy="552450"/>
            <a:chOff x="1104900" y="4953000"/>
            <a:chExt cx="4953000" cy="552450"/>
          </a:xfrm>
        </p:grpSpPr>
        <p:sp>
          <p:nvSpPr>
            <p:cNvPr id="25" name="Rectangle 25"/>
            <p:cNvSpPr/>
            <p:nvPr/>
          </p:nvSpPr>
          <p:spPr>
            <a:xfrm>
              <a:off x="1104900" y="4953000"/>
              <a:ext cx="4953000" cy="552450"/>
            </a:xfrm>
            <a:prstGeom prst="roundRect">
              <a:avLst>
                <a:gd name="adj" fmla="val 13793"/>
              </a:avLst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353502" y="5142071"/>
              <a:ext cx="324854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7E8"/>
                  </a:solidFill>
                  <a:latin typeface="Consolas"/>
                  <a:ea typeface="Microsoft YaHei"/>
                  <a:cs typeface="Consolas"/>
                </a:rPr>
                <a:t>https://wenwen.zone/playband/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089453" y="588454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D6577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24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666750" y="666750"/>
              <a:ext cx="108585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28575">
              <a:solidFill>
                <a:srgbClr val="E7DCC7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41070" y="1244918"/>
            <a:ext cx="7798622" cy="1388744"/>
            <a:chOff x="941070" y="1244918"/>
            <a:chExt cx="7798622" cy="1388744"/>
          </a:xfrm>
        </p:grpSpPr>
        <p:sp>
          <p:nvSpPr>
            <p:cNvPr id="5" name="TextBox 5"/>
            <p:cNvSpPr txBox="1"/>
            <p:nvPr/>
          </p:nvSpPr>
          <p:spPr>
            <a:xfrm>
              <a:off x="973455" y="1244918"/>
              <a:ext cx="9888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C7CFA"/>
                  </a:solidFill>
                  <a:latin typeface="Arial"/>
                  <a:ea typeface="Microsoft YaHei"/>
                  <a:cs typeface="Arial"/>
                </a:rPr>
                <a:t>Agent 核心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1070" y="1655445"/>
              <a:ext cx="7798622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它不是“生成器”，而是音乐导演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07745" y="2298382"/>
              <a:ext cx="443145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会听、会补、会解释，也能继续接受指挥。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23950" y="3219450"/>
            <a:ext cx="9372600" cy="914400"/>
            <a:chOff x="1123950" y="3219450"/>
            <a:chExt cx="9372600" cy="914400"/>
          </a:xfrm>
        </p:grpSpPr>
        <p:sp>
          <p:nvSpPr>
            <p:cNvPr id="9" name="Rectangle 9"/>
            <p:cNvSpPr/>
            <p:nvPr/>
          </p:nvSpPr>
          <p:spPr>
            <a:xfrm>
              <a:off x="1123950" y="3219450"/>
              <a:ext cx="1600200" cy="914400"/>
            </a:xfrm>
            <a:prstGeom prst="roundRect">
              <a:avLst>
                <a:gd name="adj" fmla="val 8333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62992" y="343042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听见种子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5963" y="37647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从敲击开始</a:t>
              </a:r>
            </a:p>
          </p:txBody>
        </p:sp>
        <p:sp>
          <p:nvSpPr>
            <p:cNvPr id="12" name="Polygon 12"/>
            <p:cNvSpPr/>
            <p:nvPr/>
          </p:nvSpPr>
          <p:spPr>
            <a:xfrm>
              <a:off x="2971800" y="3562350"/>
              <a:ext cx="438150" cy="228600"/>
            </a:xfrm>
            <a:custGeom>
              <a:avLst/>
              <a:gdLst/>
              <a:ahLst/>
              <a:cxnLst/>
              <a:rect l="l" t="t" r="r" b="b"/>
              <a:pathLst>
                <a:path w="438150" h="228600">
                  <a:moveTo>
                    <a:pt x="0" y="0"/>
                  </a:moveTo>
                  <a:lnTo>
                    <a:pt x="43815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4212B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714750" y="3219450"/>
              <a:ext cx="1600200" cy="914400"/>
            </a:xfrm>
            <a:prstGeom prst="roundRect">
              <a:avLst>
                <a:gd name="adj" fmla="val 8333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053792" y="343042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补全乐队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65833" y="3764756"/>
              <a:ext cx="6980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四轨 loop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5562600" y="3562350"/>
              <a:ext cx="438150" cy="228600"/>
            </a:xfrm>
            <a:custGeom>
              <a:avLst/>
              <a:gdLst/>
              <a:ahLst/>
              <a:cxnLst/>
              <a:rect l="l" t="t" r="r" b="b"/>
              <a:pathLst>
                <a:path w="438150" h="228600">
                  <a:moveTo>
                    <a:pt x="0" y="0"/>
                  </a:moveTo>
                  <a:lnTo>
                    <a:pt x="43815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4212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05550" y="3219450"/>
              <a:ext cx="1600200" cy="914400"/>
            </a:xfrm>
            <a:prstGeom prst="roundRect">
              <a:avLst>
                <a:gd name="adj" fmla="val 8333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44592" y="343042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解释变化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0044" y="3764756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告诉你改了什么</a:t>
              </a:r>
            </a:p>
          </p:txBody>
        </p:sp>
        <p:sp>
          <p:nvSpPr>
            <p:cNvPr id="20" name="Polygon 20"/>
            <p:cNvSpPr/>
            <p:nvPr/>
          </p:nvSpPr>
          <p:spPr>
            <a:xfrm>
              <a:off x="8153400" y="3562350"/>
              <a:ext cx="438150" cy="228600"/>
            </a:xfrm>
            <a:custGeom>
              <a:avLst/>
              <a:gdLst/>
              <a:ahLst/>
              <a:cxnLst/>
              <a:rect l="l" t="t" r="r" b="b"/>
              <a:pathLst>
                <a:path w="438150" h="228600">
                  <a:moveTo>
                    <a:pt x="0" y="0"/>
                  </a:moveTo>
                  <a:lnTo>
                    <a:pt x="43815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4212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896350" y="3219450"/>
              <a:ext cx="1600200" cy="914400"/>
            </a:xfrm>
            <a:prstGeom prst="roundRect">
              <a:avLst>
                <a:gd name="adj" fmla="val 8333"/>
              </a:avLst>
            </a:prstGeom>
            <a:solidFill>
              <a:srgbClr val="5C7C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35392" y="343042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继续指挥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276549" y="3764756"/>
              <a:ext cx="8398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更快 / 更柔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76350" y="4953000"/>
            <a:ext cx="9658350" cy="552450"/>
            <a:chOff x="1276350" y="4953000"/>
            <a:chExt cx="9658350" cy="552450"/>
          </a:xfrm>
        </p:grpSpPr>
        <p:sp>
          <p:nvSpPr>
            <p:cNvPr id="25" name="Rectangle 25"/>
            <p:cNvSpPr/>
            <p:nvPr/>
          </p:nvSpPr>
          <p:spPr>
            <a:xfrm>
              <a:off x="1276350" y="4953000"/>
              <a:ext cx="2724150" cy="552450"/>
            </a:xfrm>
            <a:prstGeom prst="roundRect">
              <a:avLst>
                <a:gd name="adj" fmla="val 13793"/>
              </a:avLst>
            </a:prstGeom>
            <a:solidFill>
              <a:srgbClr val="FFF7E8"/>
            </a:solidFill>
            <a:ln w="28575">
              <a:solidFill>
                <a:srgbClr val="E7DCC7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959697" y="5159692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不是一次性结果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743450" y="4953000"/>
              <a:ext cx="2724150" cy="552450"/>
            </a:xfrm>
            <a:prstGeom prst="roundRect">
              <a:avLst>
                <a:gd name="adj" fmla="val 13793"/>
              </a:avLst>
            </a:prstGeom>
            <a:solidFill>
              <a:srgbClr val="FFF7E8"/>
            </a:solidFill>
            <a:ln w="28575">
              <a:solidFill>
                <a:srgbClr val="E7DCC7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521309" y="515969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不是音频黑箱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210550" y="4953000"/>
              <a:ext cx="2724150" cy="552450"/>
            </a:xfrm>
            <a:prstGeom prst="roundRect">
              <a:avLst>
                <a:gd name="adj" fmla="val 13793"/>
              </a:avLst>
            </a:prstGeom>
            <a:solidFill>
              <a:srgbClr val="FFF7E8"/>
            </a:solidFill>
            <a:ln w="28575">
              <a:solidFill>
                <a:srgbClr val="E7DCC7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893897" y="5159692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不是替代创作者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089453" y="586549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D6577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4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609600" y="571500"/>
              <a:ext cx="10972800" cy="5715000"/>
            </a:xfrm>
            <a:prstGeom prst="roundRect">
              <a:avLst>
                <a:gd name="adj" fmla="val 1333"/>
              </a:avLst>
            </a:prstGeom>
            <a:solidFill>
              <a:srgbClr val="FFF7E8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01065" y="1206818"/>
            <a:ext cx="6907720" cy="1236344"/>
            <a:chOff x="901065" y="1206818"/>
            <a:chExt cx="6907720" cy="1236344"/>
          </a:xfrm>
        </p:grpSpPr>
        <p:sp>
          <p:nvSpPr>
            <p:cNvPr id="5" name="TextBox 5"/>
            <p:cNvSpPr txBox="1"/>
            <p:nvPr/>
          </p:nvSpPr>
          <p:spPr>
            <a:xfrm>
              <a:off x="935355" y="12068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C7CFA"/>
                  </a:solidFill>
                  <a:latin typeface="Arial"/>
                  <a:ea typeface="Microsoft YaHei"/>
                  <a:cs typeface="Arial"/>
                </a:rPr>
                <a:t>未来规划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1065" y="1620202"/>
              <a:ext cx="6907720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24212B"/>
                  </a:solidFill>
                  <a:latin typeface="Impact"/>
                  <a:ea typeface="SimHei"/>
                  <a:cs typeface="Impact"/>
                </a:rPr>
                <a:t>从音乐玩具，到创作副驾驶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66800" y="3124200"/>
            <a:ext cx="8134350" cy="1257300"/>
            <a:chOff x="1066800" y="3124200"/>
            <a:chExt cx="8134350" cy="1257300"/>
          </a:xfrm>
        </p:grpSpPr>
        <p:sp>
          <p:nvSpPr>
            <p:cNvPr id="8" name="Rectangle 8"/>
            <p:cNvSpPr/>
            <p:nvPr/>
          </p:nvSpPr>
          <p:spPr>
            <a:xfrm>
              <a:off x="1066800" y="3124200"/>
              <a:ext cx="2076450" cy="1257300"/>
            </a:xfrm>
            <a:prstGeom prst="roundRect">
              <a:avLst>
                <a:gd name="adj" fmla="val 6061"/>
              </a:avLst>
            </a:prstGeom>
            <a:solidFill>
              <a:srgbClr val="5C7CF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31595" y="34413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模型编曲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36358" y="3824764"/>
              <a:ext cx="146949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更懂风格和 taste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3371850" y="3638550"/>
              <a:ext cx="438150" cy="228600"/>
            </a:xfrm>
            <a:custGeom>
              <a:avLst/>
              <a:gdLst/>
              <a:ahLst/>
              <a:cxnLst/>
              <a:rect l="l" t="t" r="r" b="b"/>
              <a:pathLst>
                <a:path w="438150" h="228600">
                  <a:moveTo>
                    <a:pt x="0" y="0"/>
                  </a:moveTo>
                  <a:lnTo>
                    <a:pt x="43815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4212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095750" y="3124200"/>
              <a:ext cx="2076450" cy="1257300"/>
            </a:xfrm>
            <a:prstGeom prst="roundRect">
              <a:avLst>
                <a:gd name="adj" fmla="val 6061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60545" y="344138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风格包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65308" y="3824764"/>
              <a:ext cx="15944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lo-fi / rock / 古风</a:t>
              </a:r>
            </a:p>
          </p:txBody>
        </p:sp>
        <p:sp>
          <p:nvSpPr>
            <p:cNvPr id="15" name="Polygon 15"/>
            <p:cNvSpPr/>
            <p:nvPr/>
          </p:nvSpPr>
          <p:spPr>
            <a:xfrm>
              <a:off x="6400800" y="3638550"/>
              <a:ext cx="438150" cy="228600"/>
            </a:xfrm>
            <a:custGeom>
              <a:avLst/>
              <a:gdLst/>
              <a:ahLst/>
              <a:cxnLst/>
              <a:rect l="l" t="t" r="r" b="b"/>
              <a:pathLst>
                <a:path w="438150" h="228600">
                  <a:moveTo>
                    <a:pt x="0" y="0"/>
                  </a:moveTo>
                  <a:lnTo>
                    <a:pt x="43815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4212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3124200"/>
              <a:ext cx="2076450" cy="1257300"/>
            </a:xfrm>
            <a:prstGeom prst="roundRect">
              <a:avLst>
                <a:gd name="adj" fmla="val 6061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89495" y="34413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导出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94258" y="382476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MIDI / stems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095500" y="5105400"/>
            <a:ext cx="8001000" cy="552450"/>
            <a:chOff x="2095500" y="5105400"/>
            <a:chExt cx="8001000" cy="552450"/>
          </a:xfrm>
        </p:grpSpPr>
        <p:sp>
          <p:nvSpPr>
            <p:cNvPr id="20" name="Rectangle 20"/>
            <p:cNvSpPr/>
            <p:nvPr/>
          </p:nvSpPr>
          <p:spPr>
            <a:xfrm>
              <a:off x="2095500" y="5105400"/>
              <a:ext cx="8001000" cy="552450"/>
            </a:xfrm>
            <a:prstGeom prst="roundRect">
              <a:avLst>
                <a:gd name="adj" fmla="val 13793"/>
              </a:avLst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82413" y="5295900"/>
              <a:ext cx="46271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更远一点：小 riff 变成可以 remix 的社区种子。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089453" y="586549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D6577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666750" y="628650"/>
              <a:ext cx="10858500" cy="5600700"/>
            </a:xfrm>
            <a:prstGeom prst="roundRect">
              <a:avLst>
                <a:gd name="adj" fmla="val 1361"/>
              </a:avLst>
            </a:prstGeom>
            <a:solidFill>
              <a:srgbClr val="24212B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990600" y="952500"/>
              <a:ext cx="952500" cy="190500"/>
            </a:xfrm>
            <a:prstGeom prst="roundRect">
              <a:avLst>
                <a:gd name="adj" fmla="val 40000"/>
              </a:avLst>
            </a:prstGeom>
            <a:solidFill>
              <a:srgbClr val="FF5A3D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2133600" y="952500"/>
              <a:ext cx="952500" cy="190500"/>
            </a:xfrm>
            <a:prstGeom prst="roundRect">
              <a:avLst>
                <a:gd name="adj" fmla="val 40000"/>
              </a:avLst>
            </a:prstGeom>
            <a:solidFill>
              <a:srgbClr val="20C997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3276600" y="952500"/>
              <a:ext cx="952500" cy="190500"/>
            </a:xfrm>
            <a:prstGeom prst="roundRect">
              <a:avLst>
                <a:gd name="adj" fmla="val 40000"/>
              </a:avLst>
            </a:prstGeom>
            <a:solidFill>
              <a:srgbClr val="FFD43B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419600" y="952500"/>
              <a:ext cx="952500" cy="190500"/>
            </a:xfrm>
            <a:prstGeom prst="roundRect">
              <a:avLst>
                <a:gd name="adj" fmla="val 40000"/>
              </a:avLst>
            </a:prstGeom>
            <a:solidFill>
              <a:srgbClr val="5C7CFA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42035" y="1837372"/>
            <a:ext cx="5842034" cy="1965484"/>
            <a:chOff x="1042035" y="1837372"/>
            <a:chExt cx="5842034" cy="1965484"/>
          </a:xfrm>
        </p:grpSpPr>
        <p:sp>
          <p:nvSpPr>
            <p:cNvPr id="9" name="TextBox 9"/>
            <p:cNvSpPr txBox="1"/>
            <p:nvPr/>
          </p:nvSpPr>
          <p:spPr>
            <a:xfrm>
              <a:off x="1042035" y="1837372"/>
              <a:ext cx="3776282" cy="1310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450" b="1" dirty="0">
                  <a:solidFill>
                    <a:srgbClr val="FFF7E8"/>
                  </a:solidFill>
                  <a:latin typeface="Impact"/>
                  <a:ea typeface="SimHei"/>
                  <a:cs typeface="Impact"/>
                </a:rPr>
                <a:t>谢谢大家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3475" y="2900362"/>
              <a:ext cx="22624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D43B"/>
                  </a:solidFill>
                  <a:latin typeface="Arial"/>
                  <a:ea typeface="Microsoft YaHei"/>
                  <a:cs typeface="Arial"/>
                </a:rPr>
                <a:t>先玩，再编曲。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0142" y="3452336"/>
              <a:ext cx="574392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FFF7E8"/>
                  </a:solidFill>
                  <a:latin typeface="Arial"/>
                  <a:ea typeface="Microsoft YaHei"/>
                  <a:cs typeface="Arial"/>
                </a:rPr>
                <a:t>PlayBand AI 把普通人的音乐直觉，留在创作循环里。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62050" y="4648200"/>
            <a:ext cx="9201150" cy="704850"/>
            <a:chOff x="1162050" y="4648200"/>
            <a:chExt cx="9201150" cy="704850"/>
          </a:xfrm>
        </p:grpSpPr>
        <p:sp>
          <p:nvSpPr>
            <p:cNvPr id="13" name="Rectangle 13"/>
            <p:cNvSpPr/>
            <p:nvPr/>
          </p:nvSpPr>
          <p:spPr>
            <a:xfrm>
              <a:off x="1162050" y="4648200"/>
              <a:ext cx="4457700" cy="704850"/>
            </a:xfrm>
            <a:prstGeom prst="roundRect">
              <a:avLst>
                <a:gd name="adj" fmla="val 10811"/>
              </a:avLst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11605" y="478821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4212B"/>
                  </a:solidFill>
                  <a:latin typeface="Arial"/>
                  <a:ea typeface="Microsoft YaHei"/>
                  <a:cs typeface="Arial"/>
                </a:rPr>
                <a:t>欧比克莱歌剧院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11605" y="5073968"/>
              <a:ext cx="12912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D6577"/>
                  </a:solidFill>
                  <a:latin typeface="Arial"/>
                  <a:ea typeface="Microsoft YaHei"/>
                  <a:cs typeface="Arial"/>
                </a:rPr>
                <a:t>温添宁 · scala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91250" y="4648200"/>
              <a:ext cx="4171950" cy="704850"/>
            </a:xfrm>
            <a:prstGeom prst="roundRect">
              <a:avLst>
                <a:gd name="adj" fmla="val 10811"/>
              </a:avLst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38900" y="4905375"/>
              <a:ext cx="23798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4212B"/>
                  </a:solidFill>
                  <a:latin typeface="Consolas"/>
                  <a:ea typeface="Microsoft YaHei"/>
                  <a:cs typeface="Consolas"/>
                </a:rPr>
                <a:t>wenwen.zone/playband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089453" y="578929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FFF7E8">
                    <a:alphaMod val="72000"/>
                  </a:srgbClr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2026-06-15T20:16:15Z</dcterms:created>
  <dcterms:modified xsi:type="dcterms:W3CDTF">2026-06-15T20:16:15Z</dcterms:modified>
  <cp:category/>
  <cp:contentStatus/>
</cp:coreProperties>
</file>